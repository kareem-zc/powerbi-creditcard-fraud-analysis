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Baloo 2 ExtraBold" panose="020B0604020202020204" charset="0"/>
      <p:bold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Medium" pitchFamily="2" charset="0"/>
      <p:regular r:id="rId24"/>
      <p:bold r:id="rId25"/>
      <p:italic r:id="rId26"/>
      <p:boldItalic r:id="rId27"/>
    </p:embeddedFont>
    <p:embeddedFont>
      <p:font typeface="Nunito Light" pitchFamily="2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ba2472c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aba2472c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ba2472ca0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aba2472ca0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ba2472ca0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aba2472ca0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aba2472ca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aba2472ca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063351"/>
            <a:ext cx="77040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201338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-2070957" y="-2181586"/>
            <a:ext cx="12789989" cy="9622630"/>
            <a:chOff x="-2070957" y="-2181586"/>
            <a:chExt cx="12789989" cy="9622630"/>
          </a:xfrm>
        </p:grpSpPr>
        <p:sp>
          <p:nvSpPr>
            <p:cNvPr id="27" name="Google Shape;27;p4"/>
            <p:cNvSpPr/>
            <p:nvPr/>
          </p:nvSpPr>
          <p:spPr>
            <a:xfrm rot="-7978753">
              <a:off x="7222940" y="-1435304"/>
              <a:ext cx="3098931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2460279">
              <a:off x="-1652662" y="4289121"/>
              <a:ext cx="3098932" cy="24338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8350786" y="175533"/>
            <a:ext cx="627600" cy="887824"/>
            <a:chOff x="2443886" y="2869758"/>
            <a:chExt cx="627600" cy="887824"/>
          </a:xfrm>
        </p:grpSpPr>
        <p:sp>
          <p:nvSpPr>
            <p:cNvPr id="30" name="Google Shape;30;p4"/>
            <p:cNvSpPr/>
            <p:nvPr/>
          </p:nvSpPr>
          <p:spPr>
            <a:xfrm>
              <a:off x="2443886" y="2937682"/>
              <a:ext cx="627600" cy="81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443886" y="2869758"/>
              <a:ext cx="627579" cy="67924"/>
            </a:xfrm>
            <a:custGeom>
              <a:avLst/>
              <a:gdLst/>
              <a:ahLst/>
              <a:cxnLst/>
              <a:rect l="l" t="t" r="r" b="b"/>
              <a:pathLst>
                <a:path w="718" h="78" extrusionOk="0">
                  <a:moveTo>
                    <a:pt x="68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718" y="78"/>
                    <a:pt x="718" y="78"/>
                    <a:pt x="718" y="78"/>
                  </a:cubicBezTo>
                  <a:cubicBezTo>
                    <a:pt x="718" y="37"/>
                    <a:pt x="718" y="37"/>
                    <a:pt x="718" y="37"/>
                  </a:cubicBezTo>
                  <a:cubicBezTo>
                    <a:pt x="718" y="16"/>
                    <a:pt x="701" y="0"/>
                    <a:pt x="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2473543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2521377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70168" y="2887935"/>
              <a:ext cx="306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2544337" y="3316526"/>
              <a:ext cx="97500" cy="14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2692622" y="3217988"/>
              <a:ext cx="98400" cy="24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840906" y="3129017"/>
              <a:ext cx="97500" cy="33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578777" y="2982646"/>
              <a:ext cx="308049" cy="309007"/>
            </a:xfrm>
            <a:custGeom>
              <a:avLst/>
              <a:gdLst/>
              <a:ahLst/>
              <a:cxnLst/>
              <a:rect l="l" t="t" r="r" b="b"/>
              <a:pathLst>
                <a:path w="352" h="353" extrusionOk="0">
                  <a:moveTo>
                    <a:pt x="351" y="56"/>
                  </a:moveTo>
                  <a:cubicBezTo>
                    <a:pt x="350" y="51"/>
                    <a:pt x="347" y="47"/>
                    <a:pt x="343" y="45"/>
                  </a:cubicBezTo>
                  <a:cubicBezTo>
                    <a:pt x="262" y="4"/>
                    <a:pt x="262" y="4"/>
                    <a:pt x="262" y="4"/>
                  </a:cubicBezTo>
                  <a:cubicBezTo>
                    <a:pt x="255" y="0"/>
                    <a:pt x="246" y="3"/>
                    <a:pt x="242" y="11"/>
                  </a:cubicBezTo>
                  <a:cubicBezTo>
                    <a:pt x="238" y="18"/>
                    <a:pt x="241" y="27"/>
                    <a:pt x="249" y="31"/>
                  </a:cubicBezTo>
                  <a:cubicBezTo>
                    <a:pt x="290" y="52"/>
                    <a:pt x="290" y="52"/>
                    <a:pt x="290" y="52"/>
                  </a:cubicBezTo>
                  <a:cubicBezTo>
                    <a:pt x="43" y="111"/>
                    <a:pt x="2" y="333"/>
                    <a:pt x="2" y="335"/>
                  </a:cubicBezTo>
                  <a:cubicBezTo>
                    <a:pt x="0" y="343"/>
                    <a:pt x="6" y="351"/>
                    <a:pt x="14" y="352"/>
                  </a:cubicBezTo>
                  <a:cubicBezTo>
                    <a:pt x="15" y="353"/>
                    <a:pt x="15" y="353"/>
                    <a:pt x="16" y="353"/>
                  </a:cubicBezTo>
                  <a:cubicBezTo>
                    <a:pt x="23" y="353"/>
                    <a:pt x="30" y="348"/>
                    <a:pt x="31" y="340"/>
                  </a:cubicBezTo>
                  <a:cubicBezTo>
                    <a:pt x="31" y="338"/>
                    <a:pt x="69" y="134"/>
                    <a:pt x="300" y="80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3" y="126"/>
                    <a:pt x="264" y="135"/>
                    <a:pt x="270" y="141"/>
                  </a:cubicBezTo>
                  <a:cubicBezTo>
                    <a:pt x="273" y="143"/>
                    <a:pt x="276" y="144"/>
                    <a:pt x="280" y="144"/>
                  </a:cubicBezTo>
                  <a:cubicBezTo>
                    <a:pt x="284" y="144"/>
                    <a:pt x="288" y="142"/>
                    <a:pt x="291" y="138"/>
                  </a:cubicBezTo>
                  <a:cubicBezTo>
                    <a:pt x="348" y="68"/>
                    <a:pt x="348" y="68"/>
                    <a:pt x="348" y="68"/>
                  </a:cubicBezTo>
                  <a:cubicBezTo>
                    <a:pt x="351" y="65"/>
                    <a:pt x="352" y="60"/>
                    <a:pt x="351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515637" y="3521255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515637" y="3573872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568254" y="3626489"/>
              <a:ext cx="3777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636178" y="3679106"/>
              <a:ext cx="2421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150790" y="217095"/>
            <a:ext cx="7996462" cy="5057956"/>
            <a:chOff x="150790" y="217095"/>
            <a:chExt cx="7996462" cy="5057956"/>
          </a:xfrm>
        </p:grpSpPr>
        <p:sp>
          <p:nvSpPr>
            <p:cNvPr id="44" name="Google Shape;44;p4"/>
            <p:cNvSpPr/>
            <p:nvPr/>
          </p:nvSpPr>
          <p:spPr>
            <a:xfrm>
              <a:off x="7820577" y="217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5;p4"/>
            <p:cNvGrpSpPr/>
            <p:nvPr/>
          </p:nvGrpSpPr>
          <p:grpSpPr>
            <a:xfrm rot="-8329653">
              <a:off x="354633" y="4434969"/>
              <a:ext cx="451704" cy="788937"/>
              <a:chOff x="8579627" y="228750"/>
              <a:chExt cx="451723" cy="78897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-1067442" y="-2235586"/>
            <a:ext cx="11334362" cy="8364590"/>
            <a:chOff x="-1067442" y="-2235586"/>
            <a:chExt cx="11334362" cy="8364590"/>
          </a:xfrm>
        </p:grpSpPr>
        <p:sp>
          <p:nvSpPr>
            <p:cNvPr id="95" name="Google Shape;95;p6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9880295" flipH="1">
              <a:off x="-863626" y="4019806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464702" y="228750"/>
            <a:ext cx="8566648" cy="4346120"/>
            <a:chOff x="464702" y="228750"/>
            <a:chExt cx="8566648" cy="4346120"/>
          </a:xfrm>
        </p:grpSpPr>
        <p:sp>
          <p:nvSpPr>
            <p:cNvPr id="98" name="Google Shape;98;p6"/>
            <p:cNvSpPr/>
            <p:nvPr/>
          </p:nvSpPr>
          <p:spPr>
            <a:xfrm>
              <a:off x="464702" y="42524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579627" y="6953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846775" y="2287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-367865" y="3675387"/>
            <a:ext cx="1793863" cy="1346198"/>
            <a:chOff x="-367865" y="3675387"/>
            <a:chExt cx="1793863" cy="1346198"/>
          </a:xfrm>
        </p:grpSpPr>
        <p:grpSp>
          <p:nvGrpSpPr>
            <p:cNvPr id="102" name="Google Shape;102;p6"/>
            <p:cNvGrpSpPr/>
            <p:nvPr/>
          </p:nvGrpSpPr>
          <p:grpSpPr>
            <a:xfrm>
              <a:off x="791375" y="4574865"/>
              <a:ext cx="634624" cy="446720"/>
              <a:chOff x="3622711" y="1331469"/>
              <a:chExt cx="959226" cy="675313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6"/>
            <p:cNvGrpSpPr/>
            <p:nvPr/>
          </p:nvGrpSpPr>
          <p:grpSpPr>
            <a:xfrm>
              <a:off x="-367865" y="3675387"/>
              <a:ext cx="676370" cy="1142272"/>
              <a:chOff x="2757910" y="1240337"/>
              <a:chExt cx="676370" cy="1142272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012189" y="-3008195"/>
            <a:ext cx="13291278" cy="10373236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>
            <a:spLocks noGrp="1"/>
          </p:cNvSpPr>
          <p:nvPr>
            <p:ph type="pic" idx="2"/>
          </p:nvPr>
        </p:nvSpPr>
        <p:spPr>
          <a:xfrm>
            <a:off x="1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0"/>
          <p:cNvSpPr txBox="1">
            <a:spLocks noGrp="1"/>
          </p:cNvSpPr>
          <p:nvPr>
            <p:ph type="title"/>
          </p:nvPr>
        </p:nvSpPr>
        <p:spPr>
          <a:xfrm>
            <a:off x="997050" y="4090650"/>
            <a:ext cx="71499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203996" y="-1273080"/>
            <a:ext cx="11972579" cy="8563690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rot="-3948904" flipH="1">
              <a:off x="-1026291" y="-790996"/>
              <a:ext cx="2252181" cy="184703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"/>
          </p:nvPr>
        </p:nvSpPr>
        <p:spPr>
          <a:xfrm>
            <a:off x="882150" y="2858089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2"/>
          </p:nvPr>
        </p:nvSpPr>
        <p:spPr>
          <a:xfrm>
            <a:off x="3393754" y="2858089"/>
            <a:ext cx="23565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3"/>
          </p:nvPr>
        </p:nvSpPr>
        <p:spPr>
          <a:xfrm>
            <a:off x="5902646" y="2858087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4"/>
          </p:nvPr>
        </p:nvSpPr>
        <p:spPr>
          <a:xfrm>
            <a:off x="882150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5"/>
          </p:nvPr>
        </p:nvSpPr>
        <p:spPr>
          <a:xfrm>
            <a:off x="3393757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6"/>
          </p:nvPr>
        </p:nvSpPr>
        <p:spPr>
          <a:xfrm>
            <a:off x="5902639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7469359" y="4220679"/>
            <a:ext cx="1246094" cy="1192058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161952" y="170375"/>
            <a:ext cx="8831737" cy="3874120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6"/>
          <p:cNvSpPr txBox="1">
            <a:spLocks noGrp="1"/>
          </p:cNvSpPr>
          <p:nvPr>
            <p:ph type="subTitle" idx="1"/>
          </p:nvPr>
        </p:nvSpPr>
        <p:spPr>
          <a:xfrm>
            <a:off x="1846600" y="1065425"/>
            <a:ext cx="5005200" cy="32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386" name="Google Shape;386;p16"/>
          <p:cNvGrpSpPr/>
          <p:nvPr/>
        </p:nvGrpSpPr>
        <p:grpSpPr>
          <a:xfrm>
            <a:off x="-1612427" y="-1583794"/>
            <a:ext cx="13680176" cy="9527191"/>
            <a:chOff x="-1612427" y="-1583794"/>
            <a:chExt cx="13680176" cy="9527191"/>
          </a:xfrm>
        </p:grpSpPr>
        <p:sp>
          <p:nvSpPr>
            <p:cNvPr id="387" name="Google Shape;387;p16"/>
            <p:cNvSpPr/>
            <p:nvPr/>
          </p:nvSpPr>
          <p:spPr>
            <a:xfrm rot="7128936">
              <a:off x="6088123" y="2417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 rot="-2861827">
              <a:off x="-1306536" y="-871781"/>
              <a:ext cx="2847247" cy="2086224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6"/>
          <p:cNvSpPr/>
          <p:nvPr/>
        </p:nvSpPr>
        <p:spPr>
          <a:xfrm>
            <a:off x="8558433" y="3047281"/>
            <a:ext cx="301600" cy="497575"/>
          </a:xfrm>
          <a:custGeom>
            <a:avLst/>
            <a:gdLst/>
            <a:ahLst/>
            <a:cxnLst/>
            <a:rect l="l" t="t" r="r" b="b"/>
            <a:pathLst>
              <a:path w="271" h="447" extrusionOk="0">
                <a:moveTo>
                  <a:pt x="271" y="234"/>
                </a:moveTo>
                <a:lnTo>
                  <a:pt x="135" y="0"/>
                </a:lnTo>
                <a:lnTo>
                  <a:pt x="0" y="234"/>
                </a:lnTo>
                <a:lnTo>
                  <a:pt x="69" y="234"/>
                </a:lnTo>
                <a:lnTo>
                  <a:pt x="69" y="447"/>
                </a:lnTo>
                <a:lnTo>
                  <a:pt x="201" y="447"/>
                </a:lnTo>
                <a:lnTo>
                  <a:pt x="201" y="234"/>
                </a:lnTo>
                <a:lnTo>
                  <a:pt x="271" y="2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16"/>
          <p:cNvGrpSpPr/>
          <p:nvPr/>
        </p:nvGrpSpPr>
        <p:grpSpPr>
          <a:xfrm>
            <a:off x="201327" y="80250"/>
            <a:ext cx="405111" cy="812320"/>
            <a:chOff x="201327" y="80250"/>
            <a:chExt cx="405111" cy="812320"/>
          </a:xfrm>
        </p:grpSpPr>
        <p:sp>
          <p:nvSpPr>
            <p:cNvPr id="391" name="Google Shape;391;p16"/>
            <p:cNvSpPr/>
            <p:nvPr/>
          </p:nvSpPr>
          <p:spPr>
            <a:xfrm>
              <a:off x="201327" y="57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421863" y="802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_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7"/>
          <p:cNvSpPr txBox="1">
            <a:spLocks noGrp="1"/>
          </p:cNvSpPr>
          <p:nvPr>
            <p:ph type="subTitle" idx="1"/>
          </p:nvPr>
        </p:nvSpPr>
        <p:spPr>
          <a:xfrm>
            <a:off x="720000" y="1074300"/>
            <a:ext cx="2214300" cy="3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856733" y="-2184900"/>
            <a:ext cx="11910511" cy="8379762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7886574" y="231922"/>
            <a:ext cx="1018096" cy="1211385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0" name="Google Shape;460;p20"/>
          <p:cNvGrpSpPr/>
          <p:nvPr/>
        </p:nvGrpSpPr>
        <p:grpSpPr>
          <a:xfrm>
            <a:off x="-2517947" y="-1893567"/>
            <a:ext cx="12903983" cy="8553763"/>
            <a:chOff x="-2517947" y="-1893567"/>
            <a:chExt cx="12903983" cy="8553763"/>
          </a:xfrm>
        </p:grpSpPr>
        <p:sp>
          <p:nvSpPr>
            <p:cNvPr id="461" name="Google Shape;461;p20"/>
            <p:cNvSpPr/>
            <p:nvPr/>
          </p:nvSpPr>
          <p:spPr>
            <a:xfrm rot="-8720805">
              <a:off x="-2100858" y="-1228400"/>
              <a:ext cx="3098928" cy="243384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0"/>
            <p:cNvSpPr/>
            <p:nvPr/>
          </p:nvSpPr>
          <p:spPr>
            <a:xfrm rot="6952720" flipH="1">
              <a:off x="7556640" y="3956446"/>
              <a:ext cx="2602540" cy="213436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118988" y="131820"/>
            <a:ext cx="8902251" cy="3784750"/>
            <a:chOff x="118988" y="131820"/>
            <a:chExt cx="8902251" cy="3784750"/>
          </a:xfrm>
        </p:grpSpPr>
        <p:sp>
          <p:nvSpPr>
            <p:cNvPr id="464" name="Google Shape;464;p20"/>
            <p:cNvSpPr/>
            <p:nvPr/>
          </p:nvSpPr>
          <p:spPr>
            <a:xfrm>
              <a:off x="8694564" y="3594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49877" y="1318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118988" y="6668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7778168" y="3892387"/>
            <a:ext cx="1513295" cy="1423687"/>
            <a:chOff x="7778168" y="3892387"/>
            <a:chExt cx="1513295" cy="1423687"/>
          </a:xfrm>
        </p:grpSpPr>
        <p:sp>
          <p:nvSpPr>
            <p:cNvPr id="468" name="Google Shape;468;p20"/>
            <p:cNvSpPr/>
            <p:nvPr/>
          </p:nvSpPr>
          <p:spPr>
            <a:xfrm>
              <a:off x="7778168" y="4557704"/>
              <a:ext cx="259260" cy="42763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9" name="Google Shape;469;p20"/>
            <p:cNvGrpSpPr/>
            <p:nvPr/>
          </p:nvGrpSpPr>
          <p:grpSpPr>
            <a:xfrm rot="-1568729">
              <a:off x="8162195" y="4038923"/>
              <a:ext cx="927622" cy="1130616"/>
              <a:chOff x="3622704" y="2258128"/>
              <a:chExt cx="751947" cy="916497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3622704" y="2258128"/>
                <a:ext cx="751947" cy="91649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958" extrusionOk="0">
                    <a:moveTo>
                      <a:pt x="637" y="958"/>
                    </a:moveTo>
                    <a:lnTo>
                      <a:pt x="0" y="847"/>
                    </a:lnTo>
                    <a:lnTo>
                      <a:pt x="149" y="0"/>
                    </a:lnTo>
                    <a:lnTo>
                      <a:pt x="786" y="112"/>
                    </a:lnTo>
                    <a:lnTo>
                      <a:pt x="637" y="9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3689671" y="23059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39418" y="26494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739418" y="26934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739418" y="27364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739418" y="27804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739418" y="28244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737505" y="2387280"/>
                <a:ext cx="204600" cy="204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726981" y="23777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3774815" y="24255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3977630" y="23777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3977630" y="24217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3977630" y="24657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3977630" y="25097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3977630" y="25546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3850392" y="28847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3850392" y="29086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3850392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739418" y="28847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159398" y="28847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4159398" y="29086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4159398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4048424" y="28847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3850392" y="29966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3850392" y="30205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3850392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3739418" y="29966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4159398" y="29966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4159398" y="30205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4159398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4048424" y="29966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1"/>
          <p:cNvGrpSpPr/>
          <p:nvPr/>
        </p:nvGrpSpPr>
        <p:grpSpPr>
          <a:xfrm>
            <a:off x="-1830171" y="-3026103"/>
            <a:ext cx="12553533" cy="10802628"/>
            <a:chOff x="-1830171" y="-3026103"/>
            <a:chExt cx="12553533" cy="10802628"/>
          </a:xfrm>
        </p:grpSpPr>
        <p:sp>
          <p:nvSpPr>
            <p:cNvPr id="503" name="Google Shape;503;p21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21"/>
          <p:cNvSpPr txBox="1">
            <a:spLocks noGrp="1"/>
          </p:cNvSpPr>
          <p:nvPr>
            <p:ph type="title"/>
          </p:nvPr>
        </p:nvSpPr>
        <p:spPr>
          <a:xfrm>
            <a:off x="713263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1"/>
          <p:cNvSpPr txBox="1">
            <a:spLocks noGrp="1"/>
          </p:cNvSpPr>
          <p:nvPr>
            <p:ph type="subTitle" idx="1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pvMpyR6z5KcWv8CJ8tz7jY3zpxna8aNmGUyTx3RR8r8/copy#gid=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4"/>
          <p:cNvSpPr txBox="1">
            <a:spLocks noGrp="1"/>
          </p:cNvSpPr>
          <p:nvPr>
            <p:ph type="ctrTitle"/>
          </p:nvPr>
        </p:nvSpPr>
        <p:spPr>
          <a:xfrm>
            <a:off x="275700" y="1934800"/>
            <a:ext cx="55602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Online Payment Fraud Analysis</a:t>
            </a:r>
            <a:endParaRPr sz="4400"/>
          </a:p>
        </p:txBody>
      </p:sp>
      <p:grpSp>
        <p:nvGrpSpPr>
          <p:cNvPr id="660" name="Google Shape;660;p24"/>
          <p:cNvGrpSpPr/>
          <p:nvPr/>
        </p:nvGrpSpPr>
        <p:grpSpPr>
          <a:xfrm>
            <a:off x="6253297" y="573311"/>
            <a:ext cx="3246799" cy="3446635"/>
            <a:chOff x="4765672" y="760436"/>
            <a:chExt cx="3246799" cy="3446635"/>
          </a:xfrm>
        </p:grpSpPr>
        <p:sp>
          <p:nvSpPr>
            <p:cNvPr id="661" name="Google Shape;661;p24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24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63" name="Google Shape;663;p24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4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24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24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4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4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4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4" name="Google Shape;674;p24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75" name="Google Shape;675;p24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4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4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4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4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4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4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24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4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4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7" name="Google Shape;687;p24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88" name="Google Shape;688;p24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4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4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4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4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4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4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4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24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4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4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4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1" name="Google Shape;701;p24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3" name="Google Shape;703;p24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04" name="Google Shape;704;p24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4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4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4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4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4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24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24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24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24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4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4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4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4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4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4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4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4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4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4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4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4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5" name="Google Shape;735;p24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5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</a:t>
            </a:r>
            <a:endParaRPr/>
          </a:p>
        </p:txBody>
      </p:sp>
      <p:sp>
        <p:nvSpPr>
          <p:cNvPr id="742" name="Google Shape;742;p25"/>
          <p:cNvSpPr txBox="1">
            <a:spLocks noGrp="1"/>
          </p:cNvSpPr>
          <p:nvPr>
            <p:ph type="title" idx="5"/>
          </p:nvPr>
        </p:nvSpPr>
        <p:spPr>
          <a:xfrm>
            <a:off x="859275" y="1424275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3" name="Google Shape;743;p25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the problem and your scope</a:t>
            </a:r>
            <a:endParaRPr/>
          </a:p>
        </p:txBody>
      </p:sp>
      <p:sp>
        <p:nvSpPr>
          <p:cNvPr id="744" name="Google Shape;744;p25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PowerBi Methodology</a:t>
            </a:r>
            <a:endParaRPr/>
          </a:p>
        </p:txBody>
      </p:sp>
      <p:sp>
        <p:nvSpPr>
          <p:cNvPr id="745" name="Google Shape;74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46" name="Google Shape;746;p25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What are the perspectives that could provide insights</a:t>
            </a:r>
            <a:endParaRPr sz="1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5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dataset was chosen to solve which problem</a:t>
            </a:r>
            <a:endParaRPr/>
          </a:p>
        </p:txBody>
      </p:sp>
      <p:sp>
        <p:nvSpPr>
          <p:cNvPr id="748" name="Google Shape;748;p25"/>
          <p:cNvSpPr txBox="1">
            <a:spLocks noGrp="1"/>
          </p:cNvSpPr>
          <p:nvPr>
            <p:ph type="subTitle" idx="2"/>
          </p:nvPr>
        </p:nvSpPr>
        <p:spPr>
          <a:xfrm>
            <a:off x="5419075" y="2060200"/>
            <a:ext cx="34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each column indicate and how could it help to get insights</a:t>
            </a:r>
            <a:endParaRPr/>
          </a:p>
        </p:txBody>
      </p:sp>
      <p:sp>
        <p:nvSpPr>
          <p:cNvPr id="749" name="Google Shape;749;p25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Steps of using of visualizing tool to hunt the information treasures</a:t>
            </a:r>
            <a:endParaRPr/>
          </a:p>
        </p:txBody>
      </p:sp>
      <p:sp>
        <p:nvSpPr>
          <p:cNvPr id="750" name="Google Shape;750;p25"/>
          <p:cNvSpPr txBox="1">
            <a:spLocks noGrp="1"/>
          </p:cNvSpPr>
          <p:nvPr>
            <p:ph type="title" idx="6"/>
          </p:nvPr>
        </p:nvSpPr>
        <p:spPr>
          <a:xfrm>
            <a:off x="859275" y="3080674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51" name="Google Shape;751;p25"/>
          <p:cNvSpPr txBox="1">
            <a:spLocks noGrp="1"/>
          </p:cNvSpPr>
          <p:nvPr>
            <p:ph type="title" idx="7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2" name="Google Shape;752;p25"/>
          <p:cNvSpPr txBox="1">
            <a:spLocks noGrp="1"/>
          </p:cNvSpPr>
          <p:nvPr>
            <p:ph type="title" idx="8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53" name="Google Shape;753;p25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Perspectives and Insights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6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5027400" cy="7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 </a:t>
            </a:r>
            <a:endParaRPr/>
          </a:p>
        </p:txBody>
      </p:sp>
      <p:sp>
        <p:nvSpPr>
          <p:cNvPr id="759" name="Google Shape;759;p26"/>
          <p:cNvSpPr txBox="1">
            <a:spLocks noGrp="1"/>
          </p:cNvSpPr>
          <p:nvPr>
            <p:ph type="title" idx="2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60" name="Google Shape;760;p26"/>
          <p:cNvGrpSpPr/>
          <p:nvPr/>
        </p:nvGrpSpPr>
        <p:grpSpPr>
          <a:xfrm>
            <a:off x="713221" y="502143"/>
            <a:ext cx="2987196" cy="3456293"/>
            <a:chOff x="713221" y="502143"/>
            <a:chExt cx="2987196" cy="3456293"/>
          </a:xfrm>
        </p:grpSpPr>
        <p:grpSp>
          <p:nvGrpSpPr>
            <p:cNvPr id="761" name="Google Shape;761;p26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762" name="Google Shape;762;p26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26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26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6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6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26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26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6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6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6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6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6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6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6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6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6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6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6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6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1" name="Google Shape;781;p26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782" name="Google Shape;782;p26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26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4" name="Google Shape;784;p26"/>
            <p:cNvSpPr/>
            <p:nvPr/>
          </p:nvSpPr>
          <p:spPr>
            <a:xfrm>
              <a:off x="3052028" y="502143"/>
              <a:ext cx="560784" cy="924988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3003630" y="2329937"/>
              <a:ext cx="269949" cy="266432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3003613" y="2807213"/>
              <a:ext cx="166095" cy="27398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" name="Google Shape;787;p26"/>
            <p:cNvGrpSpPr/>
            <p:nvPr/>
          </p:nvGrpSpPr>
          <p:grpSpPr>
            <a:xfrm>
              <a:off x="713221" y="1546974"/>
              <a:ext cx="1380702" cy="2411462"/>
              <a:chOff x="713221" y="1546974"/>
              <a:chExt cx="1380702" cy="2411462"/>
            </a:xfrm>
          </p:grpSpPr>
          <p:sp>
            <p:nvSpPr>
              <p:cNvPr id="788" name="Google Shape;788;p26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26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26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26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26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26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26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26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26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26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26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26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26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26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2" name="Google Shape;802;p26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03" name="Google Shape;803;p26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26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26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26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26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26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26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26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26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avLst/>
                <a:gdLst/>
                <a:ahLst/>
                <a:cxnLst/>
                <a:rect l="l" t="t" r="r" b="b"/>
                <a:pathLst>
                  <a:path w="85" h="70" extrusionOk="0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26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26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26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26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26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26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26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26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26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26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26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26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26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26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26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26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26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26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avLst/>
                <a:gdLst/>
                <a:ahLst/>
                <a:cxnLst/>
                <a:rect l="l" t="t" r="r" b="b"/>
                <a:pathLst>
                  <a:path w="98" h="29" extrusionOk="0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26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26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26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26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26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26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26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26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6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839" name="Google Shape;839;p26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6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26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26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26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26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26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6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6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6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6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6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26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26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26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Fraud?</a:t>
            </a:r>
            <a:endParaRPr/>
          </a:p>
        </p:txBody>
      </p:sp>
      <p:sp>
        <p:nvSpPr>
          <p:cNvPr id="859" name="Google Shape;859;p27"/>
          <p:cNvSpPr txBox="1">
            <a:spLocks noGrp="1"/>
          </p:cNvSpPr>
          <p:nvPr>
            <p:ph type="subTitle" idx="1"/>
          </p:nvPr>
        </p:nvSpPr>
        <p:spPr>
          <a:xfrm>
            <a:off x="720000" y="1763200"/>
            <a:ext cx="31533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What is fraud ?</a:t>
            </a:r>
            <a:endParaRPr sz="16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Fraud types</a:t>
            </a:r>
            <a:endParaRPr sz="16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What is our scope ?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pic>
        <p:nvPicPr>
          <p:cNvPr id="860" name="Google Shape;860;p27" title="Screen-Shot-2020-05-06-at-6.36.05-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550" y="946250"/>
            <a:ext cx="2758525" cy="27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India ?</a:t>
            </a:r>
            <a:endParaRPr/>
          </a:p>
        </p:txBody>
      </p:sp>
      <p:sp>
        <p:nvSpPr>
          <p:cNvPr id="866" name="Google Shape;866;p28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Fraud is so critical problem which every house face and India is the first Ranked one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Highest Online fraud rate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Large various Community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Solving there solves everywhere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7" name="Google Shape;8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500" y="1212225"/>
            <a:ext cx="3383949" cy="25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9"/>
          <p:cNvSpPr txBox="1">
            <a:spLocks noGrp="1"/>
          </p:cNvSpPr>
          <p:nvPr>
            <p:ph type="title"/>
          </p:nvPr>
        </p:nvSpPr>
        <p:spPr>
          <a:xfrm>
            <a:off x="0" y="1652250"/>
            <a:ext cx="56394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Understanding, Cleaning</a:t>
            </a:r>
            <a:endParaRPr/>
          </a:p>
        </p:txBody>
      </p:sp>
      <p:grpSp>
        <p:nvGrpSpPr>
          <p:cNvPr id="873" name="Google Shape;873;p29"/>
          <p:cNvGrpSpPr/>
          <p:nvPr/>
        </p:nvGrpSpPr>
        <p:grpSpPr>
          <a:xfrm>
            <a:off x="5246428" y="349043"/>
            <a:ext cx="3897567" cy="4009205"/>
            <a:chOff x="4817053" y="290718"/>
            <a:chExt cx="3897567" cy="4009205"/>
          </a:xfrm>
        </p:grpSpPr>
        <p:sp>
          <p:nvSpPr>
            <p:cNvPr id="874" name="Google Shape;874;p29"/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5" name="Google Shape;875;p29"/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876" name="Google Shape;876;p29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29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29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29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29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29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29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29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29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29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29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29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29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29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29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29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29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29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9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29"/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896" name="Google Shape;896;p29"/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897" name="Google Shape;897;p29"/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29"/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9"/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29"/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29"/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29"/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29"/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29"/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9"/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29"/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29"/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29"/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29"/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29"/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29"/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29"/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3" name="Google Shape;913;p29"/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914" name="Google Shape;914;p29"/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5" name="Google Shape;915;p29"/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6" name="Google Shape;916;p29"/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7" name="Google Shape;917;p29"/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p29"/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p29"/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20" name="Google Shape;920;p29"/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921" name="Google Shape;921;p29"/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2" name="Google Shape;922;p29"/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29"/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24" name="Google Shape;924;p29"/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/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29"/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29"/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29"/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29"/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29"/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1" name="Google Shape;931;p29"/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932" name="Google Shape;932;p29"/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3" name="Google Shape;933;p29"/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34" name="Google Shape;934;p29"/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29"/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29"/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7" name="Google Shape;937;p29"/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938" name="Google Shape;938;p29"/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9" name="Google Shape;939;p29"/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0" name="Google Shape;940;p29"/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41" name="Google Shape;941;p29"/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942" name="Google Shape;942;p29"/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43" name="Google Shape;943;p29"/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44" name="Google Shape;944;p29"/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45" name="Google Shape;945;p29"/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6" name="Google Shape;946;p29"/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947" name="Google Shape;947;p29"/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8" name="Google Shape;948;p29"/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/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/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1" name="Google Shape;951;p29"/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2" name="Google Shape;952;p29"/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953" name="Google Shape;953;p29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29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29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29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29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29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29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29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29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29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29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29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29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29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9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29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29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29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29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29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9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9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29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29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29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29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29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29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29"/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984" name="Google Shape;984;p29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5" name="Google Shape;985;p29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986" name="Google Shape;986;p29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29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29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29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29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29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29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3" name="Google Shape;993;p29"/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9"/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5" name="Google Shape;995;p29"/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996" name="Google Shape;996;p29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29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29"/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999" name="Google Shape;999;p29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29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29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29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29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29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29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29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29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29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29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29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29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cover wide perspectives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1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date and ID</a:t>
            </a:r>
            <a:endParaRPr/>
          </a:p>
        </p:txBody>
      </p:sp>
      <p:sp>
        <p:nvSpPr>
          <p:cNvPr id="1022" name="Google Shape;1022;p31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Merchant name, address, state, </a:t>
            </a:r>
            <a:endParaRPr/>
          </a:p>
        </p:txBody>
      </p:sp>
      <p:sp>
        <p:nvSpPr>
          <p:cNvPr id="1023" name="Google Shape;102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cover wide perspectives</a:t>
            </a:r>
            <a:endParaRPr/>
          </a:p>
        </p:txBody>
      </p:sp>
      <p:sp>
        <p:nvSpPr>
          <p:cNvPr id="1024" name="Google Shape;1024;p31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customer who had suspicious transactions</a:t>
            </a:r>
            <a:endParaRPr/>
          </a:p>
        </p:txBody>
      </p:sp>
      <p:sp>
        <p:nvSpPr>
          <p:cNvPr id="1025" name="Google Shape;1025;p31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card type and the band which the card belongs to </a:t>
            </a:r>
            <a:endParaRPr/>
          </a:p>
        </p:txBody>
      </p:sp>
      <p:sp>
        <p:nvSpPr>
          <p:cNvPr id="1026" name="Google Shape;1026;p31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risky to face a fraud </a:t>
            </a:r>
            <a:endParaRPr/>
          </a:p>
        </p:txBody>
      </p:sp>
      <p:sp>
        <p:nvSpPr>
          <p:cNvPr id="1027" name="Google Shape;1027;p31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Data</a:t>
            </a:r>
            <a:endParaRPr/>
          </a:p>
        </p:txBody>
      </p:sp>
      <p:sp>
        <p:nvSpPr>
          <p:cNvPr id="1028" name="Google Shape;1028;p31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data</a:t>
            </a:r>
            <a:endParaRPr/>
          </a:p>
        </p:txBody>
      </p:sp>
      <p:sp>
        <p:nvSpPr>
          <p:cNvPr id="1029" name="Google Shape;1029;p31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Merchant data</a:t>
            </a:r>
            <a:endParaRPr/>
          </a:p>
        </p:txBody>
      </p:sp>
      <p:sp>
        <p:nvSpPr>
          <p:cNvPr id="1030" name="Google Shape;1030;p31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Type</a:t>
            </a:r>
            <a:endParaRPr/>
          </a:p>
        </p:txBody>
      </p:sp>
      <p:sp>
        <p:nvSpPr>
          <p:cNvPr id="1031" name="Google Shape;1031;p31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Fraud risk	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cover wide perspectives</a:t>
            </a:r>
            <a:endParaRPr/>
          </a:p>
        </p:txBody>
      </p:sp>
      <p:pic>
        <p:nvPicPr>
          <p:cNvPr id="1037" name="Google Shape;1037;p32" title="Screenshot 2025-11-30 220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6150"/>
            <a:ext cx="9658476" cy="34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perspective ?</a:t>
            </a:r>
            <a:endParaRPr/>
          </a:p>
        </p:txBody>
      </p:sp>
      <p:sp>
        <p:nvSpPr>
          <p:cNvPr id="1043" name="Google Shape;1043;p33"/>
          <p:cNvSpPr txBox="1"/>
          <p:nvPr/>
        </p:nvSpPr>
        <p:spPr>
          <a:xfrm>
            <a:off x="827625" y="2979750"/>
            <a:ext cx="28206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Location Analysis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044" name="Google Shape;1044;p33"/>
          <p:cNvSpPr txBox="1"/>
          <p:nvPr/>
        </p:nvSpPr>
        <p:spPr>
          <a:xfrm>
            <a:off x="3451800" y="3160875"/>
            <a:ext cx="22404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Fraud types Analysis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045" name="Google Shape;1045;p33"/>
          <p:cNvSpPr txBox="1"/>
          <p:nvPr/>
        </p:nvSpPr>
        <p:spPr>
          <a:xfrm>
            <a:off x="5921175" y="2979750"/>
            <a:ext cx="27636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Seasonal Analysis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046" name="Google Shape;1046;p33"/>
          <p:cNvSpPr/>
          <p:nvPr/>
        </p:nvSpPr>
        <p:spPr>
          <a:xfrm>
            <a:off x="1412025" y="1398075"/>
            <a:ext cx="1382700" cy="13827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33"/>
          <p:cNvSpPr/>
          <p:nvPr/>
        </p:nvSpPr>
        <p:spPr>
          <a:xfrm flipH="1">
            <a:off x="1404525" y="1390450"/>
            <a:ext cx="1397700" cy="1397700"/>
          </a:xfrm>
          <a:prstGeom prst="blockArc">
            <a:avLst>
              <a:gd name="adj1" fmla="val 10798115"/>
              <a:gd name="adj2" fmla="val 16256715"/>
              <a:gd name="adj3" fmla="val 1271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3"/>
          <p:cNvSpPr/>
          <p:nvPr/>
        </p:nvSpPr>
        <p:spPr>
          <a:xfrm>
            <a:off x="3881025" y="1398075"/>
            <a:ext cx="1382700" cy="13827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3"/>
          <p:cNvSpPr/>
          <p:nvPr/>
        </p:nvSpPr>
        <p:spPr>
          <a:xfrm flipH="1">
            <a:off x="3873525" y="1390450"/>
            <a:ext cx="1397700" cy="1397700"/>
          </a:xfrm>
          <a:prstGeom prst="blockArc">
            <a:avLst>
              <a:gd name="adj1" fmla="val 5400645"/>
              <a:gd name="adj2" fmla="val 16256715"/>
              <a:gd name="adj3" fmla="val 1271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3"/>
          <p:cNvSpPr/>
          <p:nvPr/>
        </p:nvSpPr>
        <p:spPr>
          <a:xfrm>
            <a:off x="6350025" y="1398075"/>
            <a:ext cx="1382700" cy="13827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33"/>
          <p:cNvSpPr/>
          <p:nvPr/>
        </p:nvSpPr>
        <p:spPr>
          <a:xfrm flipH="1">
            <a:off x="6342525" y="1390450"/>
            <a:ext cx="1397700" cy="1397700"/>
          </a:xfrm>
          <a:prstGeom prst="blockArc">
            <a:avLst>
              <a:gd name="adj1" fmla="val 26082"/>
              <a:gd name="adj2" fmla="val 16256715"/>
              <a:gd name="adj3" fmla="val 1271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33"/>
          <p:cNvSpPr txBox="1"/>
          <p:nvPr/>
        </p:nvSpPr>
        <p:spPr>
          <a:xfrm>
            <a:off x="4064025" y="1961275"/>
            <a:ext cx="1016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50%</a:t>
            </a:r>
            <a:endParaRPr sz="300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053" name="Google Shape;1053;p33"/>
          <p:cNvSpPr txBox="1"/>
          <p:nvPr/>
        </p:nvSpPr>
        <p:spPr>
          <a:xfrm>
            <a:off x="6533025" y="1961275"/>
            <a:ext cx="1016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75%</a:t>
            </a:r>
            <a:endParaRPr sz="300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054" name="Google Shape;1054;p33"/>
          <p:cNvSpPr txBox="1"/>
          <p:nvPr/>
        </p:nvSpPr>
        <p:spPr>
          <a:xfrm>
            <a:off x="1595025" y="1961275"/>
            <a:ext cx="1016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25%</a:t>
            </a:r>
            <a:endParaRPr sz="300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4"/>
          <p:cNvSpPr txBox="1">
            <a:spLocks noGrp="1"/>
          </p:cNvSpPr>
          <p:nvPr>
            <p:ph type="title"/>
          </p:nvPr>
        </p:nvSpPr>
        <p:spPr>
          <a:xfrm>
            <a:off x="5302675" y="2703800"/>
            <a:ext cx="47238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Bi</a:t>
            </a:r>
            <a:endParaRPr/>
          </a:p>
        </p:txBody>
      </p:sp>
      <p:grpSp>
        <p:nvGrpSpPr>
          <p:cNvPr id="1060" name="Google Shape;1060;p34"/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61" name="Google Shape;1061;p34"/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4" name="Google Shape;1064;p34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65" name="Google Shape;1065;p34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34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34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34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34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34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1" name="Google Shape;1071;p34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72" name="Google Shape;1072;p34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73" name="Google Shape;1073;p34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34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34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34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34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34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34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34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1" name="Google Shape;1081;p34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2" name="Google Shape;1082;p34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3" name="Google Shape;1083;p34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34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34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34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34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34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9" name="Google Shape;1089;p34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0" name="Google Shape;1090;p34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1" name="Google Shape;1091;p34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34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34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34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34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4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7" name="Google Shape;1097;p34"/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8" name="Google Shape;1098;p34"/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099" name="Google Shape;1099;p3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3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3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3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3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3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3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3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3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3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3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3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1" name="Google Shape;1111;p34"/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12" name="Google Shape;1112;p34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34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34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34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34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34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34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34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34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34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4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4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4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4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4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4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4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4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4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34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34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4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4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4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4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4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4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4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2" name="Google Shape;1142;p34"/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43" name="Google Shape;1143;p34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4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4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4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4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4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9" name="Google Shape;1149;p34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50" name="Google Shape;1150;p34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4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2" name="Google Shape;1152;p34"/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Bi</a:t>
            </a:r>
            <a:endParaRPr/>
          </a:p>
        </p:txBody>
      </p:sp>
      <p:sp>
        <p:nvSpPr>
          <p:cNvPr id="1159" name="Google Shape;1159;p35"/>
          <p:cNvSpPr txBox="1"/>
          <p:nvPr/>
        </p:nvSpPr>
        <p:spPr>
          <a:xfrm flipH="1">
            <a:off x="718505" y="2396337"/>
            <a:ext cx="2926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Power Query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160" name="Google Shape;1160;p35"/>
          <p:cNvSpPr txBox="1"/>
          <p:nvPr/>
        </p:nvSpPr>
        <p:spPr>
          <a:xfrm flipH="1">
            <a:off x="3909780" y="2396331"/>
            <a:ext cx="2926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Filters and Navigations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161" name="Google Shape;1161;p35"/>
          <p:cNvSpPr txBox="1"/>
          <p:nvPr/>
        </p:nvSpPr>
        <p:spPr>
          <a:xfrm flipH="1">
            <a:off x="2315277" y="3612250"/>
            <a:ext cx="2923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Dax Measures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162" name="Google Shape;1162;p35"/>
          <p:cNvSpPr txBox="1"/>
          <p:nvPr/>
        </p:nvSpPr>
        <p:spPr>
          <a:xfrm flipH="1">
            <a:off x="5504530" y="3612238"/>
            <a:ext cx="29262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Integrated dashboard</a:t>
            </a:r>
            <a:endParaRPr sz="2100">
              <a:solidFill>
                <a:schemeClr val="dk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163" name="Google Shape;1163;p35"/>
          <p:cNvSpPr/>
          <p:nvPr/>
        </p:nvSpPr>
        <p:spPr>
          <a:xfrm>
            <a:off x="1835255" y="1409036"/>
            <a:ext cx="692700" cy="692700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5"/>
          <p:cNvSpPr/>
          <p:nvPr/>
        </p:nvSpPr>
        <p:spPr>
          <a:xfrm>
            <a:off x="3430599" y="1409036"/>
            <a:ext cx="692700" cy="692700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5"/>
          <p:cNvSpPr/>
          <p:nvPr/>
        </p:nvSpPr>
        <p:spPr>
          <a:xfrm>
            <a:off x="5025942" y="1409036"/>
            <a:ext cx="692700" cy="692700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35"/>
          <p:cNvSpPr/>
          <p:nvPr/>
        </p:nvSpPr>
        <p:spPr>
          <a:xfrm>
            <a:off x="6621286" y="1409036"/>
            <a:ext cx="692700" cy="692700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67" name="Google Shape;1167;p35"/>
          <p:cNvCxnSpPr>
            <a:stCxn id="1163" idx="1"/>
          </p:cNvCxnSpPr>
          <p:nvPr/>
        </p:nvCxnSpPr>
        <p:spPr>
          <a:xfrm>
            <a:off x="2181605" y="2101736"/>
            <a:ext cx="0" cy="218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168;p35"/>
          <p:cNvCxnSpPr>
            <a:stCxn id="1164" idx="1"/>
          </p:cNvCxnSpPr>
          <p:nvPr/>
        </p:nvCxnSpPr>
        <p:spPr>
          <a:xfrm>
            <a:off x="3776949" y="2101736"/>
            <a:ext cx="1200" cy="1434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9" name="Google Shape;1169;p35"/>
          <p:cNvCxnSpPr>
            <a:stCxn id="1165" idx="1"/>
          </p:cNvCxnSpPr>
          <p:nvPr/>
        </p:nvCxnSpPr>
        <p:spPr>
          <a:xfrm>
            <a:off x="5372292" y="2101736"/>
            <a:ext cx="0" cy="218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0" name="Google Shape;1170;p35"/>
          <p:cNvCxnSpPr>
            <a:stCxn id="1166" idx="1"/>
          </p:cNvCxnSpPr>
          <p:nvPr/>
        </p:nvCxnSpPr>
        <p:spPr>
          <a:xfrm>
            <a:off x="6967636" y="2101736"/>
            <a:ext cx="0" cy="1434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1" name="Google Shape;1171;p35"/>
          <p:cNvCxnSpPr>
            <a:stCxn id="1163" idx="0"/>
            <a:endCxn id="1164" idx="2"/>
          </p:cNvCxnSpPr>
          <p:nvPr/>
        </p:nvCxnSpPr>
        <p:spPr>
          <a:xfrm>
            <a:off x="2527955" y="1755386"/>
            <a:ext cx="9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72" name="Google Shape;1172;p35"/>
          <p:cNvCxnSpPr>
            <a:stCxn id="1164" idx="0"/>
            <a:endCxn id="1165" idx="2"/>
          </p:cNvCxnSpPr>
          <p:nvPr/>
        </p:nvCxnSpPr>
        <p:spPr>
          <a:xfrm>
            <a:off x="4123299" y="1755386"/>
            <a:ext cx="9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73" name="Google Shape;1173;p35"/>
          <p:cNvCxnSpPr>
            <a:stCxn id="1165" idx="0"/>
            <a:endCxn id="1166" idx="2"/>
          </p:cNvCxnSpPr>
          <p:nvPr/>
        </p:nvCxnSpPr>
        <p:spPr>
          <a:xfrm>
            <a:off x="5718642" y="1755386"/>
            <a:ext cx="902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174" name="Google Shape;1174;p35"/>
          <p:cNvSpPr/>
          <p:nvPr/>
        </p:nvSpPr>
        <p:spPr>
          <a:xfrm>
            <a:off x="5179905" y="1564100"/>
            <a:ext cx="384775" cy="382571"/>
          </a:xfrm>
          <a:custGeom>
            <a:avLst/>
            <a:gdLst/>
            <a:ahLst/>
            <a:cxnLst/>
            <a:rect l="l" t="t" r="r" b="b"/>
            <a:pathLst>
              <a:path w="147" h="146" extrusionOk="0">
                <a:moveTo>
                  <a:pt x="133" y="120"/>
                </a:moveTo>
                <a:cubicBezTo>
                  <a:pt x="128" y="120"/>
                  <a:pt x="123" y="124"/>
                  <a:pt x="121" y="129"/>
                </a:cubicBezTo>
                <a:cubicBezTo>
                  <a:pt x="102" y="129"/>
                  <a:pt x="102" y="129"/>
                  <a:pt x="102" y="129"/>
                </a:cubicBezTo>
                <a:cubicBezTo>
                  <a:pt x="101" y="125"/>
                  <a:pt x="98" y="122"/>
                  <a:pt x="94" y="121"/>
                </a:cubicBezTo>
                <a:cubicBezTo>
                  <a:pt x="94" y="111"/>
                  <a:pt x="94" y="111"/>
                  <a:pt x="94" y="111"/>
                </a:cubicBezTo>
                <a:cubicBezTo>
                  <a:pt x="123" y="109"/>
                  <a:pt x="146" y="85"/>
                  <a:pt x="146" y="56"/>
                </a:cubicBezTo>
                <a:cubicBezTo>
                  <a:pt x="146" y="26"/>
                  <a:pt x="121" y="0"/>
                  <a:pt x="90" y="0"/>
                </a:cubicBezTo>
                <a:cubicBezTo>
                  <a:pt x="61" y="0"/>
                  <a:pt x="37" y="23"/>
                  <a:pt x="35" y="52"/>
                </a:cubicBezTo>
                <a:cubicBezTo>
                  <a:pt x="25" y="52"/>
                  <a:pt x="25" y="52"/>
                  <a:pt x="25" y="52"/>
                </a:cubicBezTo>
                <a:cubicBezTo>
                  <a:pt x="24" y="48"/>
                  <a:pt x="21" y="45"/>
                  <a:pt x="18" y="44"/>
                </a:cubicBezTo>
                <a:cubicBezTo>
                  <a:pt x="18" y="25"/>
                  <a:pt x="18" y="25"/>
                  <a:pt x="18" y="25"/>
                </a:cubicBezTo>
                <a:cubicBezTo>
                  <a:pt x="23" y="23"/>
                  <a:pt x="26" y="18"/>
                  <a:pt x="26" y="12"/>
                </a:cubicBezTo>
                <a:cubicBezTo>
                  <a:pt x="26" y="6"/>
                  <a:pt x="20" y="1"/>
                  <a:pt x="14" y="0"/>
                </a:cubicBezTo>
                <a:cubicBezTo>
                  <a:pt x="7" y="0"/>
                  <a:pt x="1" y="6"/>
                  <a:pt x="1" y="13"/>
                </a:cubicBezTo>
                <a:cubicBezTo>
                  <a:pt x="1" y="19"/>
                  <a:pt x="4" y="24"/>
                  <a:pt x="9" y="25"/>
                </a:cubicBezTo>
                <a:cubicBezTo>
                  <a:pt x="9" y="44"/>
                  <a:pt x="9" y="44"/>
                  <a:pt x="9" y="44"/>
                </a:cubicBezTo>
                <a:cubicBezTo>
                  <a:pt x="4" y="46"/>
                  <a:pt x="0" y="51"/>
                  <a:pt x="1" y="57"/>
                </a:cubicBezTo>
                <a:cubicBezTo>
                  <a:pt x="1" y="63"/>
                  <a:pt x="6" y="68"/>
                  <a:pt x="13" y="69"/>
                </a:cubicBezTo>
                <a:cubicBezTo>
                  <a:pt x="18" y="69"/>
                  <a:pt x="24" y="66"/>
                  <a:pt x="25" y="60"/>
                </a:cubicBezTo>
                <a:cubicBezTo>
                  <a:pt x="35" y="60"/>
                  <a:pt x="35" y="60"/>
                  <a:pt x="35" y="60"/>
                </a:cubicBezTo>
                <a:cubicBezTo>
                  <a:pt x="36" y="69"/>
                  <a:pt x="39" y="78"/>
                  <a:pt x="43" y="85"/>
                </a:cubicBezTo>
                <a:cubicBezTo>
                  <a:pt x="0" y="128"/>
                  <a:pt x="0" y="128"/>
                  <a:pt x="0" y="128"/>
                </a:cubicBezTo>
                <a:cubicBezTo>
                  <a:pt x="19" y="146"/>
                  <a:pt x="19" y="146"/>
                  <a:pt x="19" y="146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9" y="108"/>
                  <a:pt x="77" y="111"/>
                  <a:pt x="86" y="111"/>
                </a:cubicBezTo>
                <a:cubicBezTo>
                  <a:pt x="86" y="121"/>
                  <a:pt x="86" y="121"/>
                  <a:pt x="86" y="121"/>
                </a:cubicBezTo>
                <a:cubicBezTo>
                  <a:pt x="81" y="123"/>
                  <a:pt x="77" y="128"/>
                  <a:pt x="78" y="134"/>
                </a:cubicBezTo>
                <a:cubicBezTo>
                  <a:pt x="78" y="140"/>
                  <a:pt x="83" y="145"/>
                  <a:pt x="89" y="146"/>
                </a:cubicBezTo>
                <a:cubicBezTo>
                  <a:pt x="95" y="146"/>
                  <a:pt x="100" y="143"/>
                  <a:pt x="102" y="137"/>
                </a:cubicBezTo>
                <a:cubicBezTo>
                  <a:pt x="121" y="137"/>
                  <a:pt x="121" y="137"/>
                  <a:pt x="121" y="137"/>
                </a:cubicBezTo>
                <a:cubicBezTo>
                  <a:pt x="123" y="143"/>
                  <a:pt x="128" y="146"/>
                  <a:pt x="134" y="146"/>
                </a:cubicBezTo>
                <a:cubicBezTo>
                  <a:pt x="141" y="145"/>
                  <a:pt x="145" y="140"/>
                  <a:pt x="146" y="134"/>
                </a:cubicBezTo>
                <a:cubicBezTo>
                  <a:pt x="147" y="127"/>
                  <a:pt x="141" y="120"/>
                  <a:pt x="133" y="120"/>
                </a:cubicBezTo>
                <a:close/>
                <a:moveTo>
                  <a:pt x="86" y="56"/>
                </a:moveTo>
                <a:cubicBezTo>
                  <a:pt x="86" y="54"/>
                  <a:pt x="88" y="52"/>
                  <a:pt x="90" y="52"/>
                </a:cubicBezTo>
                <a:cubicBezTo>
                  <a:pt x="93" y="52"/>
                  <a:pt x="94" y="54"/>
                  <a:pt x="94" y="56"/>
                </a:cubicBezTo>
                <a:cubicBezTo>
                  <a:pt x="94" y="59"/>
                  <a:pt x="93" y="60"/>
                  <a:pt x="90" y="60"/>
                </a:cubicBezTo>
                <a:cubicBezTo>
                  <a:pt x="88" y="60"/>
                  <a:pt x="86" y="59"/>
                  <a:pt x="86" y="56"/>
                </a:cubicBezTo>
                <a:close/>
                <a:moveTo>
                  <a:pt x="94" y="68"/>
                </a:moveTo>
                <a:cubicBezTo>
                  <a:pt x="99" y="66"/>
                  <a:pt x="103" y="61"/>
                  <a:pt x="103" y="55"/>
                </a:cubicBezTo>
                <a:cubicBezTo>
                  <a:pt x="102" y="49"/>
                  <a:pt x="97" y="44"/>
                  <a:pt x="91" y="43"/>
                </a:cubicBezTo>
                <a:cubicBezTo>
                  <a:pt x="85" y="43"/>
                  <a:pt x="80" y="47"/>
                  <a:pt x="78" y="52"/>
                </a:cubicBezTo>
                <a:cubicBezTo>
                  <a:pt x="69" y="52"/>
                  <a:pt x="69" y="52"/>
                  <a:pt x="69" y="52"/>
                </a:cubicBezTo>
                <a:cubicBezTo>
                  <a:pt x="71" y="42"/>
                  <a:pt x="80" y="34"/>
                  <a:pt x="91" y="35"/>
                </a:cubicBezTo>
                <a:cubicBezTo>
                  <a:pt x="102" y="35"/>
                  <a:pt x="111" y="44"/>
                  <a:pt x="111" y="55"/>
                </a:cubicBezTo>
                <a:cubicBezTo>
                  <a:pt x="112" y="66"/>
                  <a:pt x="104" y="75"/>
                  <a:pt x="94" y="77"/>
                </a:cubicBezTo>
                <a:lnTo>
                  <a:pt x="94" y="68"/>
                </a:lnTo>
                <a:close/>
                <a:moveTo>
                  <a:pt x="78" y="60"/>
                </a:moveTo>
                <a:cubicBezTo>
                  <a:pt x="79" y="64"/>
                  <a:pt x="82" y="67"/>
                  <a:pt x="86" y="68"/>
                </a:cubicBezTo>
                <a:cubicBezTo>
                  <a:pt x="86" y="77"/>
                  <a:pt x="86" y="77"/>
                  <a:pt x="86" y="77"/>
                </a:cubicBezTo>
                <a:cubicBezTo>
                  <a:pt x="77" y="75"/>
                  <a:pt x="71" y="69"/>
                  <a:pt x="69" y="60"/>
                </a:cubicBezTo>
                <a:lnTo>
                  <a:pt x="78" y="60"/>
                </a:lnTo>
                <a:close/>
                <a:moveTo>
                  <a:pt x="90" y="9"/>
                </a:moveTo>
                <a:cubicBezTo>
                  <a:pt x="116" y="9"/>
                  <a:pt x="137" y="30"/>
                  <a:pt x="137" y="56"/>
                </a:cubicBezTo>
                <a:cubicBezTo>
                  <a:pt x="137" y="80"/>
                  <a:pt x="118" y="101"/>
                  <a:pt x="94" y="103"/>
                </a:cubicBezTo>
                <a:cubicBezTo>
                  <a:pt x="94" y="86"/>
                  <a:pt x="94" y="86"/>
                  <a:pt x="94" y="86"/>
                </a:cubicBezTo>
                <a:cubicBezTo>
                  <a:pt x="109" y="83"/>
                  <a:pt x="120" y="71"/>
                  <a:pt x="120" y="55"/>
                </a:cubicBezTo>
                <a:cubicBezTo>
                  <a:pt x="119" y="39"/>
                  <a:pt x="107" y="27"/>
                  <a:pt x="91" y="26"/>
                </a:cubicBezTo>
                <a:cubicBezTo>
                  <a:pt x="76" y="26"/>
                  <a:pt x="63" y="37"/>
                  <a:pt x="61" y="52"/>
                </a:cubicBezTo>
                <a:cubicBezTo>
                  <a:pt x="43" y="52"/>
                  <a:pt x="43" y="52"/>
                  <a:pt x="43" y="52"/>
                </a:cubicBezTo>
                <a:cubicBezTo>
                  <a:pt x="46" y="28"/>
                  <a:pt x="66" y="9"/>
                  <a:pt x="90" y="9"/>
                </a:cubicBezTo>
                <a:close/>
                <a:moveTo>
                  <a:pt x="13" y="9"/>
                </a:moveTo>
                <a:cubicBezTo>
                  <a:pt x="16" y="9"/>
                  <a:pt x="18" y="11"/>
                  <a:pt x="18" y="13"/>
                </a:cubicBezTo>
                <a:cubicBezTo>
                  <a:pt x="18" y="16"/>
                  <a:pt x="16" y="18"/>
                  <a:pt x="13" y="18"/>
                </a:cubicBezTo>
                <a:cubicBezTo>
                  <a:pt x="11" y="18"/>
                  <a:pt x="9" y="16"/>
                  <a:pt x="9" y="13"/>
                </a:cubicBezTo>
                <a:cubicBezTo>
                  <a:pt x="9" y="11"/>
                  <a:pt x="11" y="9"/>
                  <a:pt x="13" y="9"/>
                </a:cubicBezTo>
                <a:close/>
                <a:moveTo>
                  <a:pt x="13" y="60"/>
                </a:moveTo>
                <a:cubicBezTo>
                  <a:pt x="11" y="60"/>
                  <a:pt x="9" y="59"/>
                  <a:pt x="9" y="56"/>
                </a:cubicBezTo>
                <a:cubicBezTo>
                  <a:pt x="9" y="54"/>
                  <a:pt x="11" y="52"/>
                  <a:pt x="13" y="52"/>
                </a:cubicBezTo>
                <a:cubicBezTo>
                  <a:pt x="16" y="52"/>
                  <a:pt x="18" y="54"/>
                  <a:pt x="18" y="56"/>
                </a:cubicBezTo>
                <a:cubicBezTo>
                  <a:pt x="18" y="59"/>
                  <a:pt x="16" y="60"/>
                  <a:pt x="13" y="60"/>
                </a:cubicBezTo>
                <a:close/>
                <a:moveTo>
                  <a:pt x="18" y="134"/>
                </a:moveTo>
                <a:cubicBezTo>
                  <a:pt x="12" y="128"/>
                  <a:pt x="12" y="128"/>
                  <a:pt x="12" y="128"/>
                </a:cubicBezTo>
                <a:cubicBezTo>
                  <a:pt x="48" y="92"/>
                  <a:pt x="48" y="92"/>
                  <a:pt x="48" y="92"/>
                </a:cubicBezTo>
                <a:cubicBezTo>
                  <a:pt x="50" y="94"/>
                  <a:pt x="52" y="96"/>
                  <a:pt x="54" y="98"/>
                </a:cubicBezTo>
                <a:lnTo>
                  <a:pt x="18" y="134"/>
                </a:lnTo>
                <a:close/>
                <a:moveTo>
                  <a:pt x="43" y="60"/>
                </a:moveTo>
                <a:cubicBezTo>
                  <a:pt x="61" y="60"/>
                  <a:pt x="61" y="60"/>
                  <a:pt x="61" y="60"/>
                </a:cubicBezTo>
                <a:cubicBezTo>
                  <a:pt x="62" y="73"/>
                  <a:pt x="73" y="84"/>
                  <a:pt x="86" y="86"/>
                </a:cubicBezTo>
                <a:cubicBezTo>
                  <a:pt x="86" y="103"/>
                  <a:pt x="86" y="103"/>
                  <a:pt x="86" y="103"/>
                </a:cubicBezTo>
                <a:cubicBezTo>
                  <a:pt x="63" y="101"/>
                  <a:pt x="45" y="83"/>
                  <a:pt x="43" y="60"/>
                </a:cubicBezTo>
                <a:close/>
                <a:moveTo>
                  <a:pt x="90" y="137"/>
                </a:moveTo>
                <a:cubicBezTo>
                  <a:pt x="88" y="137"/>
                  <a:pt x="86" y="135"/>
                  <a:pt x="86" y="133"/>
                </a:cubicBezTo>
                <a:cubicBezTo>
                  <a:pt x="86" y="131"/>
                  <a:pt x="88" y="129"/>
                  <a:pt x="90" y="129"/>
                </a:cubicBezTo>
                <a:cubicBezTo>
                  <a:pt x="93" y="129"/>
                  <a:pt x="94" y="131"/>
                  <a:pt x="94" y="133"/>
                </a:cubicBezTo>
                <a:cubicBezTo>
                  <a:pt x="94" y="135"/>
                  <a:pt x="93" y="137"/>
                  <a:pt x="90" y="137"/>
                </a:cubicBezTo>
                <a:close/>
                <a:moveTo>
                  <a:pt x="133" y="137"/>
                </a:moveTo>
                <a:cubicBezTo>
                  <a:pt x="131" y="137"/>
                  <a:pt x="129" y="135"/>
                  <a:pt x="129" y="133"/>
                </a:cubicBezTo>
                <a:cubicBezTo>
                  <a:pt x="129" y="131"/>
                  <a:pt x="131" y="129"/>
                  <a:pt x="133" y="129"/>
                </a:cubicBezTo>
                <a:cubicBezTo>
                  <a:pt x="135" y="129"/>
                  <a:pt x="137" y="131"/>
                  <a:pt x="137" y="133"/>
                </a:cubicBezTo>
                <a:cubicBezTo>
                  <a:pt x="137" y="135"/>
                  <a:pt x="135" y="137"/>
                  <a:pt x="133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5"/>
          <p:cNvSpPr/>
          <p:nvPr/>
        </p:nvSpPr>
        <p:spPr>
          <a:xfrm>
            <a:off x="3586215" y="1564100"/>
            <a:ext cx="381468" cy="382571"/>
          </a:xfrm>
          <a:custGeom>
            <a:avLst/>
            <a:gdLst/>
            <a:ahLst/>
            <a:cxnLst/>
            <a:rect l="l" t="t" r="r" b="b"/>
            <a:pathLst>
              <a:path w="346" h="347" extrusionOk="0">
                <a:moveTo>
                  <a:pt x="325" y="326"/>
                </a:moveTo>
                <a:lnTo>
                  <a:pt x="325" y="62"/>
                </a:lnTo>
                <a:lnTo>
                  <a:pt x="244" y="62"/>
                </a:lnTo>
                <a:lnTo>
                  <a:pt x="244" y="326"/>
                </a:lnTo>
                <a:lnTo>
                  <a:pt x="213" y="326"/>
                </a:lnTo>
                <a:lnTo>
                  <a:pt x="213" y="0"/>
                </a:lnTo>
                <a:lnTo>
                  <a:pt x="133" y="0"/>
                </a:lnTo>
                <a:lnTo>
                  <a:pt x="133" y="326"/>
                </a:lnTo>
                <a:lnTo>
                  <a:pt x="102" y="326"/>
                </a:lnTo>
                <a:lnTo>
                  <a:pt x="102" y="143"/>
                </a:lnTo>
                <a:lnTo>
                  <a:pt x="21" y="143"/>
                </a:lnTo>
                <a:lnTo>
                  <a:pt x="21" y="326"/>
                </a:lnTo>
                <a:lnTo>
                  <a:pt x="0" y="326"/>
                </a:lnTo>
                <a:lnTo>
                  <a:pt x="0" y="347"/>
                </a:lnTo>
                <a:lnTo>
                  <a:pt x="346" y="347"/>
                </a:lnTo>
                <a:lnTo>
                  <a:pt x="346" y="326"/>
                </a:lnTo>
                <a:lnTo>
                  <a:pt x="325" y="326"/>
                </a:lnTo>
                <a:close/>
                <a:moveTo>
                  <a:pt x="83" y="326"/>
                </a:moveTo>
                <a:lnTo>
                  <a:pt x="42" y="326"/>
                </a:lnTo>
                <a:lnTo>
                  <a:pt x="42" y="223"/>
                </a:lnTo>
                <a:lnTo>
                  <a:pt x="83" y="223"/>
                </a:lnTo>
                <a:lnTo>
                  <a:pt x="83" y="326"/>
                </a:lnTo>
                <a:close/>
                <a:moveTo>
                  <a:pt x="83" y="204"/>
                </a:moveTo>
                <a:lnTo>
                  <a:pt x="42" y="204"/>
                </a:lnTo>
                <a:lnTo>
                  <a:pt x="42" y="164"/>
                </a:lnTo>
                <a:lnTo>
                  <a:pt x="83" y="164"/>
                </a:lnTo>
                <a:lnTo>
                  <a:pt x="83" y="204"/>
                </a:lnTo>
                <a:close/>
                <a:moveTo>
                  <a:pt x="194" y="326"/>
                </a:moveTo>
                <a:lnTo>
                  <a:pt x="154" y="326"/>
                </a:lnTo>
                <a:lnTo>
                  <a:pt x="154" y="164"/>
                </a:lnTo>
                <a:lnTo>
                  <a:pt x="194" y="164"/>
                </a:lnTo>
                <a:lnTo>
                  <a:pt x="194" y="326"/>
                </a:lnTo>
                <a:close/>
                <a:moveTo>
                  <a:pt x="194" y="143"/>
                </a:moveTo>
                <a:lnTo>
                  <a:pt x="154" y="143"/>
                </a:lnTo>
                <a:lnTo>
                  <a:pt x="154" y="21"/>
                </a:lnTo>
                <a:lnTo>
                  <a:pt x="194" y="21"/>
                </a:lnTo>
                <a:lnTo>
                  <a:pt x="194" y="143"/>
                </a:lnTo>
                <a:close/>
                <a:moveTo>
                  <a:pt x="306" y="326"/>
                </a:moveTo>
                <a:lnTo>
                  <a:pt x="265" y="326"/>
                </a:lnTo>
                <a:lnTo>
                  <a:pt x="265" y="266"/>
                </a:lnTo>
                <a:lnTo>
                  <a:pt x="306" y="266"/>
                </a:lnTo>
                <a:lnTo>
                  <a:pt x="306" y="326"/>
                </a:lnTo>
                <a:close/>
                <a:moveTo>
                  <a:pt x="306" y="245"/>
                </a:moveTo>
                <a:lnTo>
                  <a:pt x="265" y="245"/>
                </a:lnTo>
                <a:lnTo>
                  <a:pt x="265" y="83"/>
                </a:lnTo>
                <a:lnTo>
                  <a:pt x="306" y="83"/>
                </a:lnTo>
                <a:lnTo>
                  <a:pt x="306" y="24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6" name="Google Shape;1176;p35"/>
          <p:cNvGrpSpPr/>
          <p:nvPr/>
        </p:nvGrpSpPr>
        <p:grpSpPr>
          <a:xfrm>
            <a:off x="6776351" y="1564100"/>
            <a:ext cx="382570" cy="382571"/>
            <a:chOff x="3150868" y="2617444"/>
            <a:chExt cx="382570" cy="382571"/>
          </a:xfrm>
        </p:grpSpPr>
        <p:sp>
          <p:nvSpPr>
            <p:cNvPr id="1177" name="Google Shape;1177;p35"/>
            <p:cNvSpPr/>
            <p:nvPr/>
          </p:nvSpPr>
          <p:spPr>
            <a:xfrm>
              <a:off x="3150868" y="2729900"/>
              <a:ext cx="382570" cy="270115"/>
            </a:xfrm>
            <a:custGeom>
              <a:avLst/>
              <a:gdLst/>
              <a:ahLst/>
              <a:cxnLst/>
              <a:rect l="l" t="t" r="r" b="b"/>
              <a:pathLst>
                <a:path w="347" h="245" extrusionOk="0">
                  <a:moveTo>
                    <a:pt x="325" y="224"/>
                  </a:moveTo>
                  <a:lnTo>
                    <a:pt x="325" y="81"/>
                  </a:lnTo>
                  <a:lnTo>
                    <a:pt x="266" y="81"/>
                  </a:lnTo>
                  <a:lnTo>
                    <a:pt x="266" y="224"/>
                  </a:lnTo>
                  <a:lnTo>
                    <a:pt x="245" y="224"/>
                  </a:lnTo>
                  <a:lnTo>
                    <a:pt x="245" y="0"/>
                  </a:lnTo>
                  <a:lnTo>
                    <a:pt x="183" y="0"/>
                  </a:lnTo>
                  <a:lnTo>
                    <a:pt x="183" y="224"/>
                  </a:lnTo>
                  <a:lnTo>
                    <a:pt x="164" y="224"/>
                  </a:lnTo>
                  <a:lnTo>
                    <a:pt x="164" y="62"/>
                  </a:lnTo>
                  <a:lnTo>
                    <a:pt x="102" y="62"/>
                  </a:lnTo>
                  <a:lnTo>
                    <a:pt x="102" y="224"/>
                  </a:lnTo>
                  <a:lnTo>
                    <a:pt x="83" y="224"/>
                  </a:lnTo>
                  <a:lnTo>
                    <a:pt x="83" y="121"/>
                  </a:lnTo>
                  <a:lnTo>
                    <a:pt x="22" y="121"/>
                  </a:lnTo>
                  <a:lnTo>
                    <a:pt x="22" y="224"/>
                  </a:lnTo>
                  <a:lnTo>
                    <a:pt x="0" y="224"/>
                  </a:lnTo>
                  <a:lnTo>
                    <a:pt x="0" y="245"/>
                  </a:lnTo>
                  <a:lnTo>
                    <a:pt x="347" y="245"/>
                  </a:lnTo>
                  <a:lnTo>
                    <a:pt x="347" y="224"/>
                  </a:lnTo>
                  <a:lnTo>
                    <a:pt x="325" y="224"/>
                  </a:lnTo>
                  <a:close/>
                  <a:moveTo>
                    <a:pt x="62" y="224"/>
                  </a:moveTo>
                  <a:lnTo>
                    <a:pt x="43" y="224"/>
                  </a:lnTo>
                  <a:lnTo>
                    <a:pt x="43" y="143"/>
                  </a:lnTo>
                  <a:lnTo>
                    <a:pt x="62" y="143"/>
                  </a:lnTo>
                  <a:lnTo>
                    <a:pt x="62" y="224"/>
                  </a:lnTo>
                  <a:close/>
                  <a:moveTo>
                    <a:pt x="143" y="224"/>
                  </a:moveTo>
                  <a:lnTo>
                    <a:pt x="124" y="224"/>
                  </a:lnTo>
                  <a:lnTo>
                    <a:pt x="124" y="81"/>
                  </a:lnTo>
                  <a:lnTo>
                    <a:pt x="143" y="81"/>
                  </a:lnTo>
                  <a:lnTo>
                    <a:pt x="143" y="224"/>
                  </a:lnTo>
                  <a:close/>
                  <a:moveTo>
                    <a:pt x="226" y="224"/>
                  </a:moveTo>
                  <a:lnTo>
                    <a:pt x="204" y="224"/>
                  </a:lnTo>
                  <a:lnTo>
                    <a:pt x="204" y="22"/>
                  </a:lnTo>
                  <a:lnTo>
                    <a:pt x="226" y="22"/>
                  </a:lnTo>
                  <a:lnTo>
                    <a:pt x="226" y="224"/>
                  </a:lnTo>
                  <a:close/>
                  <a:moveTo>
                    <a:pt x="306" y="224"/>
                  </a:moveTo>
                  <a:lnTo>
                    <a:pt x="285" y="224"/>
                  </a:lnTo>
                  <a:lnTo>
                    <a:pt x="285" y="102"/>
                  </a:lnTo>
                  <a:lnTo>
                    <a:pt x="306" y="102"/>
                  </a:lnTo>
                  <a:lnTo>
                    <a:pt x="306" y="2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5"/>
            <p:cNvSpPr/>
            <p:nvPr/>
          </p:nvSpPr>
          <p:spPr>
            <a:xfrm>
              <a:off x="3175124" y="2617444"/>
              <a:ext cx="334060" cy="201759"/>
            </a:xfrm>
            <a:custGeom>
              <a:avLst/>
              <a:gdLst/>
              <a:ahLst/>
              <a:cxnLst/>
              <a:rect l="l" t="t" r="r" b="b"/>
              <a:pathLst>
                <a:path w="128" h="77" extrusionOk="0">
                  <a:moveTo>
                    <a:pt x="13" y="77"/>
                  </a:moveTo>
                  <a:cubicBezTo>
                    <a:pt x="20" y="77"/>
                    <a:pt x="26" y="71"/>
                    <a:pt x="26" y="64"/>
                  </a:cubicBezTo>
                  <a:cubicBezTo>
                    <a:pt x="26" y="63"/>
                    <a:pt x="26" y="62"/>
                    <a:pt x="25" y="61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51"/>
                    <a:pt x="45" y="52"/>
                    <a:pt x="47" y="52"/>
                  </a:cubicBezTo>
                  <a:cubicBezTo>
                    <a:pt x="54" y="52"/>
                    <a:pt x="60" y="46"/>
                    <a:pt x="60" y="39"/>
                  </a:cubicBezTo>
                  <a:cubicBezTo>
                    <a:pt x="60" y="37"/>
                    <a:pt x="60" y="36"/>
                    <a:pt x="59" y="35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6" y="25"/>
                    <a:pt x="79" y="26"/>
                    <a:pt x="81" y="26"/>
                  </a:cubicBezTo>
                  <a:cubicBezTo>
                    <a:pt x="83" y="26"/>
                    <a:pt x="85" y="26"/>
                    <a:pt x="87" y="25"/>
                  </a:cubicBezTo>
                  <a:cubicBezTo>
                    <a:pt x="104" y="42"/>
                    <a:pt x="104" y="42"/>
                    <a:pt x="104" y="42"/>
                  </a:cubicBezTo>
                  <a:cubicBezTo>
                    <a:pt x="103" y="43"/>
                    <a:pt x="103" y="45"/>
                    <a:pt x="103" y="47"/>
                  </a:cubicBezTo>
                  <a:cubicBezTo>
                    <a:pt x="103" y="54"/>
                    <a:pt x="108" y="60"/>
                    <a:pt x="115" y="60"/>
                  </a:cubicBezTo>
                  <a:cubicBezTo>
                    <a:pt x="122" y="60"/>
                    <a:pt x="128" y="54"/>
                    <a:pt x="128" y="47"/>
                  </a:cubicBezTo>
                  <a:cubicBezTo>
                    <a:pt x="128" y="40"/>
                    <a:pt x="122" y="35"/>
                    <a:pt x="115" y="35"/>
                  </a:cubicBezTo>
                  <a:cubicBezTo>
                    <a:pt x="113" y="35"/>
                    <a:pt x="112" y="35"/>
                    <a:pt x="110" y="36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4" y="17"/>
                    <a:pt x="94" y="15"/>
                    <a:pt x="94" y="13"/>
                  </a:cubicBezTo>
                  <a:cubicBezTo>
                    <a:pt x="94" y="6"/>
                    <a:pt x="88" y="0"/>
                    <a:pt x="81" y="0"/>
                  </a:cubicBezTo>
                  <a:cubicBezTo>
                    <a:pt x="74" y="0"/>
                    <a:pt x="68" y="6"/>
                    <a:pt x="68" y="13"/>
                  </a:cubicBezTo>
                  <a:cubicBezTo>
                    <a:pt x="68" y="15"/>
                    <a:pt x="69" y="16"/>
                    <a:pt x="69" y="17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2" y="27"/>
                    <a:pt x="50" y="26"/>
                    <a:pt x="47" y="26"/>
                  </a:cubicBezTo>
                  <a:cubicBezTo>
                    <a:pt x="40" y="26"/>
                    <a:pt x="34" y="32"/>
                    <a:pt x="34" y="39"/>
                  </a:cubicBezTo>
                  <a:cubicBezTo>
                    <a:pt x="34" y="40"/>
                    <a:pt x="35" y="41"/>
                    <a:pt x="35" y="43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52"/>
                    <a:pt x="16" y="52"/>
                    <a:pt x="13" y="52"/>
                  </a:cubicBezTo>
                  <a:cubicBezTo>
                    <a:pt x="6" y="52"/>
                    <a:pt x="0" y="57"/>
                    <a:pt x="0" y="64"/>
                  </a:cubicBezTo>
                  <a:cubicBezTo>
                    <a:pt x="0" y="71"/>
                    <a:pt x="6" y="77"/>
                    <a:pt x="13" y="77"/>
                  </a:cubicBezTo>
                  <a:close/>
                  <a:moveTo>
                    <a:pt x="115" y="43"/>
                  </a:moveTo>
                  <a:cubicBezTo>
                    <a:pt x="118" y="43"/>
                    <a:pt x="120" y="45"/>
                    <a:pt x="120" y="47"/>
                  </a:cubicBezTo>
                  <a:cubicBezTo>
                    <a:pt x="120" y="50"/>
                    <a:pt x="118" y="52"/>
                    <a:pt x="115" y="52"/>
                  </a:cubicBezTo>
                  <a:cubicBezTo>
                    <a:pt x="113" y="52"/>
                    <a:pt x="111" y="50"/>
                    <a:pt x="111" y="47"/>
                  </a:cubicBezTo>
                  <a:cubicBezTo>
                    <a:pt x="111" y="45"/>
                    <a:pt x="113" y="43"/>
                    <a:pt x="115" y="43"/>
                  </a:cubicBezTo>
                  <a:close/>
                  <a:moveTo>
                    <a:pt x="81" y="9"/>
                  </a:moveTo>
                  <a:cubicBezTo>
                    <a:pt x="84" y="9"/>
                    <a:pt x="86" y="11"/>
                    <a:pt x="86" y="13"/>
                  </a:cubicBezTo>
                  <a:cubicBezTo>
                    <a:pt x="86" y="16"/>
                    <a:pt x="84" y="18"/>
                    <a:pt x="81" y="18"/>
                  </a:cubicBezTo>
                  <a:cubicBezTo>
                    <a:pt x="79" y="18"/>
                    <a:pt x="77" y="16"/>
                    <a:pt x="77" y="13"/>
                  </a:cubicBezTo>
                  <a:cubicBezTo>
                    <a:pt x="77" y="11"/>
                    <a:pt x="79" y="9"/>
                    <a:pt x="81" y="9"/>
                  </a:cubicBezTo>
                  <a:close/>
                  <a:moveTo>
                    <a:pt x="47" y="35"/>
                  </a:moveTo>
                  <a:cubicBezTo>
                    <a:pt x="50" y="35"/>
                    <a:pt x="51" y="36"/>
                    <a:pt x="51" y="39"/>
                  </a:cubicBezTo>
                  <a:cubicBezTo>
                    <a:pt x="51" y="41"/>
                    <a:pt x="50" y="43"/>
                    <a:pt x="47" y="43"/>
                  </a:cubicBezTo>
                  <a:cubicBezTo>
                    <a:pt x="45" y="43"/>
                    <a:pt x="43" y="41"/>
                    <a:pt x="43" y="39"/>
                  </a:cubicBezTo>
                  <a:cubicBezTo>
                    <a:pt x="43" y="36"/>
                    <a:pt x="45" y="35"/>
                    <a:pt x="47" y="35"/>
                  </a:cubicBezTo>
                  <a:close/>
                  <a:moveTo>
                    <a:pt x="13" y="60"/>
                  </a:moveTo>
                  <a:cubicBezTo>
                    <a:pt x="15" y="60"/>
                    <a:pt x="17" y="62"/>
                    <a:pt x="17" y="64"/>
                  </a:cubicBezTo>
                  <a:cubicBezTo>
                    <a:pt x="17" y="67"/>
                    <a:pt x="15" y="69"/>
                    <a:pt x="13" y="69"/>
                  </a:cubicBezTo>
                  <a:cubicBezTo>
                    <a:pt x="11" y="69"/>
                    <a:pt x="9" y="67"/>
                    <a:pt x="9" y="64"/>
                  </a:cubicBezTo>
                  <a:cubicBezTo>
                    <a:pt x="9" y="62"/>
                    <a:pt x="11" y="60"/>
                    <a:pt x="13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9" name="Google Shape;1179;p35"/>
          <p:cNvGrpSpPr/>
          <p:nvPr/>
        </p:nvGrpSpPr>
        <p:grpSpPr>
          <a:xfrm>
            <a:off x="1990868" y="1599381"/>
            <a:ext cx="381468" cy="312010"/>
            <a:chOff x="3161893" y="2056268"/>
            <a:chExt cx="381468" cy="312010"/>
          </a:xfrm>
        </p:grpSpPr>
        <p:sp>
          <p:nvSpPr>
            <p:cNvPr id="1180" name="Google Shape;1180;p35"/>
            <p:cNvSpPr/>
            <p:nvPr/>
          </p:nvSpPr>
          <p:spPr>
            <a:xfrm>
              <a:off x="3161893" y="2278974"/>
              <a:ext cx="381468" cy="89304"/>
            </a:xfrm>
            <a:custGeom>
              <a:avLst/>
              <a:gdLst/>
              <a:ahLst/>
              <a:cxnLst/>
              <a:rect l="l" t="t" r="r" b="b"/>
              <a:pathLst>
                <a:path w="346" h="81" extrusionOk="0">
                  <a:moveTo>
                    <a:pt x="0" y="81"/>
                  </a:moveTo>
                  <a:lnTo>
                    <a:pt x="346" y="81"/>
                  </a:lnTo>
                  <a:lnTo>
                    <a:pt x="346" y="0"/>
                  </a:lnTo>
                  <a:lnTo>
                    <a:pt x="0" y="0"/>
                  </a:lnTo>
                  <a:lnTo>
                    <a:pt x="0" y="81"/>
                  </a:lnTo>
                  <a:close/>
                  <a:moveTo>
                    <a:pt x="325" y="60"/>
                  </a:moveTo>
                  <a:lnTo>
                    <a:pt x="239" y="60"/>
                  </a:lnTo>
                  <a:lnTo>
                    <a:pt x="258" y="41"/>
                  </a:lnTo>
                  <a:lnTo>
                    <a:pt x="239" y="19"/>
                  </a:lnTo>
                  <a:lnTo>
                    <a:pt x="325" y="19"/>
                  </a:lnTo>
                  <a:lnTo>
                    <a:pt x="325" y="60"/>
                  </a:lnTo>
                  <a:close/>
                  <a:moveTo>
                    <a:pt x="21" y="19"/>
                  </a:moveTo>
                  <a:lnTo>
                    <a:pt x="209" y="19"/>
                  </a:lnTo>
                  <a:lnTo>
                    <a:pt x="230" y="41"/>
                  </a:lnTo>
                  <a:lnTo>
                    <a:pt x="209" y="60"/>
                  </a:lnTo>
                  <a:lnTo>
                    <a:pt x="21" y="60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5"/>
            <p:cNvSpPr/>
            <p:nvPr/>
          </p:nvSpPr>
          <p:spPr>
            <a:xfrm>
              <a:off x="3161893" y="2166518"/>
              <a:ext cx="381468" cy="89304"/>
            </a:xfrm>
            <a:custGeom>
              <a:avLst/>
              <a:gdLst/>
              <a:ahLst/>
              <a:cxnLst/>
              <a:rect l="l" t="t" r="r" b="b"/>
              <a:pathLst>
                <a:path w="346" h="81" extrusionOk="0">
                  <a:moveTo>
                    <a:pt x="0" y="81"/>
                  </a:moveTo>
                  <a:lnTo>
                    <a:pt x="346" y="81"/>
                  </a:lnTo>
                  <a:lnTo>
                    <a:pt x="346" y="0"/>
                  </a:lnTo>
                  <a:lnTo>
                    <a:pt x="0" y="0"/>
                  </a:lnTo>
                  <a:lnTo>
                    <a:pt x="0" y="81"/>
                  </a:lnTo>
                  <a:close/>
                  <a:moveTo>
                    <a:pt x="325" y="62"/>
                  </a:moveTo>
                  <a:lnTo>
                    <a:pt x="156" y="62"/>
                  </a:lnTo>
                  <a:lnTo>
                    <a:pt x="178" y="40"/>
                  </a:lnTo>
                  <a:lnTo>
                    <a:pt x="156" y="21"/>
                  </a:lnTo>
                  <a:lnTo>
                    <a:pt x="325" y="21"/>
                  </a:lnTo>
                  <a:lnTo>
                    <a:pt x="325" y="62"/>
                  </a:lnTo>
                  <a:close/>
                  <a:moveTo>
                    <a:pt x="21" y="21"/>
                  </a:moveTo>
                  <a:lnTo>
                    <a:pt x="128" y="21"/>
                  </a:lnTo>
                  <a:lnTo>
                    <a:pt x="149" y="40"/>
                  </a:lnTo>
                  <a:lnTo>
                    <a:pt x="128" y="62"/>
                  </a:lnTo>
                  <a:lnTo>
                    <a:pt x="21" y="62"/>
                  </a:lnTo>
                  <a:lnTo>
                    <a:pt x="21" y="2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5"/>
            <p:cNvSpPr/>
            <p:nvPr/>
          </p:nvSpPr>
          <p:spPr>
            <a:xfrm>
              <a:off x="3161893" y="2056268"/>
              <a:ext cx="381468" cy="89304"/>
            </a:xfrm>
            <a:custGeom>
              <a:avLst/>
              <a:gdLst/>
              <a:ahLst/>
              <a:cxnLst/>
              <a:rect l="l" t="t" r="r" b="b"/>
              <a:pathLst>
                <a:path w="346" h="81" extrusionOk="0">
                  <a:moveTo>
                    <a:pt x="0" y="0"/>
                  </a:moveTo>
                  <a:lnTo>
                    <a:pt x="0" y="81"/>
                  </a:lnTo>
                  <a:lnTo>
                    <a:pt x="346" y="81"/>
                  </a:lnTo>
                  <a:lnTo>
                    <a:pt x="346" y="0"/>
                  </a:lnTo>
                  <a:lnTo>
                    <a:pt x="0" y="0"/>
                  </a:lnTo>
                  <a:close/>
                  <a:moveTo>
                    <a:pt x="21" y="19"/>
                  </a:moveTo>
                  <a:lnTo>
                    <a:pt x="168" y="19"/>
                  </a:lnTo>
                  <a:lnTo>
                    <a:pt x="190" y="41"/>
                  </a:lnTo>
                  <a:lnTo>
                    <a:pt x="168" y="60"/>
                  </a:lnTo>
                  <a:lnTo>
                    <a:pt x="21" y="60"/>
                  </a:lnTo>
                  <a:lnTo>
                    <a:pt x="21" y="19"/>
                  </a:lnTo>
                  <a:close/>
                  <a:moveTo>
                    <a:pt x="325" y="60"/>
                  </a:moveTo>
                  <a:lnTo>
                    <a:pt x="199" y="60"/>
                  </a:lnTo>
                  <a:lnTo>
                    <a:pt x="218" y="41"/>
                  </a:lnTo>
                  <a:lnTo>
                    <a:pt x="199" y="19"/>
                  </a:lnTo>
                  <a:lnTo>
                    <a:pt x="325" y="19"/>
                  </a:lnTo>
                  <a:lnTo>
                    <a:pt x="325" y="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Content</a:t>
            </a:r>
            <a:endParaRPr/>
          </a:p>
        </p:txBody>
      </p:sp>
      <p:sp>
        <p:nvSpPr>
          <p:cNvPr id="1188" name="Google Shape;1188;p36"/>
          <p:cNvSpPr txBox="1">
            <a:spLocks noGrp="1"/>
          </p:cNvSpPr>
          <p:nvPr>
            <p:ph type="title" idx="4294967295"/>
          </p:nvPr>
        </p:nvSpPr>
        <p:spPr>
          <a:xfrm>
            <a:off x="4776975" y="1198700"/>
            <a:ext cx="1839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Overview</a:t>
            </a:r>
            <a:endParaRPr sz="2000"/>
          </a:p>
        </p:txBody>
      </p:sp>
      <p:sp>
        <p:nvSpPr>
          <p:cNvPr id="1189" name="Google Shape;1189;p36"/>
          <p:cNvSpPr txBox="1">
            <a:spLocks noGrp="1"/>
          </p:cNvSpPr>
          <p:nvPr>
            <p:ph type="title" idx="4294967295"/>
          </p:nvPr>
        </p:nvSpPr>
        <p:spPr>
          <a:xfrm>
            <a:off x="4776975" y="2970262"/>
            <a:ext cx="1839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Fraud types Analysis</a:t>
            </a:r>
            <a:endParaRPr sz="2000"/>
          </a:p>
        </p:txBody>
      </p:sp>
      <p:sp>
        <p:nvSpPr>
          <p:cNvPr id="1190" name="Google Shape;1190;p36"/>
          <p:cNvSpPr txBox="1">
            <a:spLocks noGrp="1"/>
          </p:cNvSpPr>
          <p:nvPr>
            <p:ph type="title" idx="4294967295"/>
          </p:nvPr>
        </p:nvSpPr>
        <p:spPr>
          <a:xfrm>
            <a:off x="6836375" y="1588700"/>
            <a:ext cx="1839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Location Analysis</a:t>
            </a:r>
            <a:endParaRPr sz="2000"/>
          </a:p>
        </p:txBody>
      </p:sp>
      <p:sp>
        <p:nvSpPr>
          <p:cNvPr id="1191" name="Google Shape;1191;p36"/>
          <p:cNvSpPr txBox="1">
            <a:spLocks noGrp="1"/>
          </p:cNvSpPr>
          <p:nvPr>
            <p:ph type="subTitle" idx="4294967295"/>
          </p:nvPr>
        </p:nvSpPr>
        <p:spPr>
          <a:xfrm>
            <a:off x="4448475" y="3421400"/>
            <a:ext cx="183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fraudes over different types </a:t>
            </a:r>
            <a:endParaRPr/>
          </a:p>
        </p:txBody>
      </p:sp>
      <p:sp>
        <p:nvSpPr>
          <p:cNvPr id="1192" name="Google Shape;1192;p36"/>
          <p:cNvSpPr txBox="1">
            <a:spLocks noGrp="1"/>
          </p:cNvSpPr>
          <p:nvPr>
            <p:ph type="title" idx="4294967295"/>
          </p:nvPr>
        </p:nvSpPr>
        <p:spPr>
          <a:xfrm>
            <a:off x="6836375" y="2970262"/>
            <a:ext cx="1839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Detailed Analysis</a:t>
            </a:r>
            <a:endParaRPr sz="2000"/>
          </a:p>
        </p:txBody>
      </p:sp>
      <p:sp>
        <p:nvSpPr>
          <p:cNvPr id="1193" name="Google Shape;1193;p36"/>
          <p:cNvSpPr txBox="1">
            <a:spLocks noGrp="1"/>
          </p:cNvSpPr>
          <p:nvPr>
            <p:ph type="subTitle" idx="4294967295"/>
          </p:nvPr>
        </p:nvSpPr>
        <p:spPr>
          <a:xfrm>
            <a:off x="6507875" y="1993125"/>
            <a:ext cx="213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distribution over locations</a:t>
            </a:r>
            <a:endParaRPr/>
          </a:p>
        </p:txBody>
      </p:sp>
      <p:sp>
        <p:nvSpPr>
          <p:cNvPr id="1194" name="Google Shape;1194;p36"/>
          <p:cNvSpPr txBox="1">
            <a:spLocks noGrp="1"/>
          </p:cNvSpPr>
          <p:nvPr>
            <p:ph type="subTitle" idx="4294967295"/>
          </p:nvPr>
        </p:nvSpPr>
        <p:spPr>
          <a:xfrm>
            <a:off x="4448475" y="1993125"/>
            <a:ext cx="183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look at the whole perspectives </a:t>
            </a:r>
            <a:endParaRPr/>
          </a:p>
        </p:txBody>
      </p:sp>
      <p:sp>
        <p:nvSpPr>
          <p:cNvPr id="1195" name="Google Shape;1195;p36"/>
          <p:cNvSpPr txBox="1">
            <a:spLocks noGrp="1"/>
          </p:cNvSpPr>
          <p:nvPr>
            <p:ph type="subTitle" idx="4294967295"/>
          </p:nvPr>
        </p:nvSpPr>
        <p:spPr>
          <a:xfrm>
            <a:off x="6507875" y="3421400"/>
            <a:ext cx="183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Combating the whole parameters</a:t>
            </a:r>
            <a:endParaRPr/>
          </a:p>
        </p:txBody>
      </p:sp>
      <p:sp>
        <p:nvSpPr>
          <p:cNvPr id="1196" name="Google Shape;1196;p36"/>
          <p:cNvSpPr/>
          <p:nvPr/>
        </p:nvSpPr>
        <p:spPr>
          <a:xfrm>
            <a:off x="4524675" y="1336400"/>
            <a:ext cx="252300" cy="25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36"/>
          <p:cNvSpPr/>
          <p:nvPr/>
        </p:nvSpPr>
        <p:spPr>
          <a:xfrm>
            <a:off x="4524675" y="2774613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36"/>
          <p:cNvSpPr/>
          <p:nvPr/>
        </p:nvSpPr>
        <p:spPr>
          <a:xfrm>
            <a:off x="6584075" y="1336400"/>
            <a:ext cx="252300" cy="25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36"/>
          <p:cNvSpPr/>
          <p:nvPr/>
        </p:nvSpPr>
        <p:spPr>
          <a:xfrm>
            <a:off x="6536850" y="2774613"/>
            <a:ext cx="252300" cy="25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0" name="Google Shape;1200;p36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75" y="1422600"/>
            <a:ext cx="3654798" cy="257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37"/>
          <p:cNvGrpSpPr/>
          <p:nvPr/>
        </p:nvGrpSpPr>
        <p:grpSpPr>
          <a:xfrm>
            <a:off x="5246428" y="349043"/>
            <a:ext cx="3897567" cy="4009205"/>
            <a:chOff x="4817053" y="290718"/>
            <a:chExt cx="3897567" cy="4009205"/>
          </a:xfrm>
        </p:grpSpPr>
        <p:sp>
          <p:nvSpPr>
            <p:cNvPr id="1206" name="Google Shape;1206;p37"/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7" name="Google Shape;1207;p37"/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1208" name="Google Shape;1208;p37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37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37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37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37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37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37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7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37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37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37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37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37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37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37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37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37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37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37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7" name="Google Shape;1227;p37"/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1228" name="Google Shape;1228;p37"/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1229" name="Google Shape;1229;p37"/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7"/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37"/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37"/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p37"/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4" name="Google Shape;1234;p37"/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p37"/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7"/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7"/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7"/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7"/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7"/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241;p37"/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2" name="Google Shape;1242;p37"/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7"/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7"/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45" name="Google Shape;1245;p37"/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1246" name="Google Shape;1246;p37"/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7" name="Google Shape;1247;p37"/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8" name="Google Shape;1248;p37"/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49" name="Google Shape;1249;p37"/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37"/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37"/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52" name="Google Shape;1252;p37"/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1253" name="Google Shape;1253;p37"/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4" name="Google Shape;1254;p37"/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5" name="Google Shape;1255;p37"/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56" name="Google Shape;1256;p37"/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37"/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37"/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37"/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37"/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37"/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37"/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3" name="Google Shape;1263;p37"/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1264" name="Google Shape;1264;p37"/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5" name="Google Shape;1265;p37"/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66" name="Google Shape;1266;p37"/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7" name="Google Shape;1267;p37"/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8" name="Google Shape;1268;p37"/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9" name="Google Shape;1269;p37"/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1270" name="Google Shape;1270;p37"/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7"/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2" name="Google Shape;1272;p37"/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273" name="Google Shape;1273;p37"/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1274" name="Google Shape;1274;p37"/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5" name="Google Shape;1275;p37"/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276" name="Google Shape;1276;p37"/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77" name="Google Shape;1277;p37"/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78" name="Google Shape;1278;p37"/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1279" name="Google Shape;1279;p37"/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0" name="Google Shape;1280;p37"/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1" name="Google Shape;1281;p37"/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2" name="Google Shape;1282;p37"/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83" name="Google Shape;1283;p37"/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4" name="Google Shape;1284;p37"/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1285" name="Google Shape;1285;p3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3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3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3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3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3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3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3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3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3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3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3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3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3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3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3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3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3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3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3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3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3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3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3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3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5" name="Google Shape;1315;p37"/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1316" name="Google Shape;1316;p37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7" name="Google Shape;1317;p37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318" name="Google Shape;1318;p37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37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37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37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37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37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37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5" name="Google Shape;1325;p37"/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37"/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7" name="Google Shape;1327;p37"/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1328" name="Google Shape;1328;p37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37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0" name="Google Shape;1330;p37"/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1331" name="Google Shape;1331;p3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3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3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3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3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3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3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3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3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3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3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3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3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4" name="Google Shape;1344;p37"/>
          <p:cNvSpPr txBox="1">
            <a:spLocks noGrp="1"/>
          </p:cNvSpPr>
          <p:nvPr>
            <p:ph type="title"/>
          </p:nvPr>
        </p:nvSpPr>
        <p:spPr>
          <a:xfrm>
            <a:off x="798313" y="12667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345" name="Google Shape;1345;p37"/>
          <p:cNvSpPr txBox="1"/>
          <p:nvPr/>
        </p:nvSpPr>
        <p:spPr>
          <a:xfrm>
            <a:off x="713275" y="2325450"/>
            <a:ext cx="414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 you have any questions?</a:t>
            </a:r>
            <a:endParaRPr sz="20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46" name="Google Shape;1346;p37"/>
          <p:cNvSpPr txBox="1"/>
          <p:nvPr/>
        </p:nvSpPr>
        <p:spPr>
          <a:xfrm>
            <a:off x="130500" y="3643350"/>
            <a:ext cx="5277928" cy="149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Prepared By /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Alaa Ahmed		Kareem Mahmoud</a:t>
            </a:r>
            <a:endParaRPr sz="15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Rawan Osama		Mohamed Allam</a:t>
            </a:r>
            <a:endParaRPr sz="15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Sama Mostafa		Omar Ashraf</a:t>
            </a:r>
            <a:endParaRPr sz="15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263</Words>
  <Application>Microsoft Office PowerPoint</Application>
  <PresentationFormat>On-screen Show (16:9)</PresentationFormat>
  <Paragraphs>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Baloo 2 ExtraBold</vt:lpstr>
      <vt:lpstr>Calibri</vt:lpstr>
      <vt:lpstr>Anaheim</vt:lpstr>
      <vt:lpstr>Arial</vt:lpstr>
      <vt:lpstr>DM Sans Medium</vt:lpstr>
      <vt:lpstr>Nunito Light</vt:lpstr>
      <vt:lpstr>DM Sans</vt:lpstr>
      <vt:lpstr>Statistics and Data Analysis - 6th Grade by Slidesgo</vt:lpstr>
      <vt:lpstr>Online Payment Fraud Analysis</vt:lpstr>
      <vt:lpstr>01</vt:lpstr>
      <vt:lpstr>Problem definition </vt:lpstr>
      <vt:lpstr>What is Fraud?</vt:lpstr>
      <vt:lpstr>Why India ?</vt:lpstr>
      <vt:lpstr>Data Understanding, Cleaning</vt:lpstr>
      <vt:lpstr>Dataset cover wide perspectives</vt:lpstr>
      <vt:lpstr>Dataset cover wide perspectives</vt:lpstr>
      <vt:lpstr>Dataset cover wide perspectives</vt:lpstr>
      <vt:lpstr>What is perspective ?</vt:lpstr>
      <vt:lpstr>Power Bi</vt:lpstr>
      <vt:lpstr>Power Bi</vt:lpstr>
      <vt:lpstr>Dashboard Content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kareem m hanafy - 201700396</cp:lastModifiedBy>
  <cp:revision>1</cp:revision>
  <dcterms:modified xsi:type="dcterms:W3CDTF">2025-11-30T21:50:53Z</dcterms:modified>
</cp:coreProperties>
</file>